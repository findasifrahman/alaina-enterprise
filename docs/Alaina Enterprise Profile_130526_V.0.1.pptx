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dobe Gothic Std B" panose="020B0800000000000000" pitchFamily="34" charset="-128"/>
      <p:bold r:id="rId11"/>
    </p:embeddedFont>
    <p:embeddedFont>
      <p:font typeface="Anton" pitchFamily="2" charset="0"/>
      <p:regular r:id="rId12"/>
    </p:embeddedFont>
    <p:embeddedFont>
      <p:font typeface="Impact" panose="020B0806030902050204" pitchFamily="34" charset="0"/>
      <p:regular r:id="rId13"/>
    </p:embeddedFont>
    <p:embeddedFont>
      <p:font typeface="Inter" panose="020B0604020202020204" charset="0"/>
      <p:regular r:id="rId14"/>
    </p:embeddedFont>
    <p:embeddedFont>
      <p:font typeface="Open Sauce" panose="020B0604020202020204" charset="0"/>
      <p:regular r:id="rId15"/>
    </p:embeddedFont>
    <p:embeddedFont>
      <p:font typeface="Open Sau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31.png"/><Relationship Id="rId7" Type="http://schemas.openxmlformats.org/officeDocument/2006/relationships/image" Target="../media/image4.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image" Target="../media/image32.sv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60887" y="-3117204"/>
            <a:ext cx="14586046" cy="13024670"/>
          </a:xfrm>
          <a:custGeom>
            <a:avLst/>
            <a:gdLst/>
            <a:ahLst/>
            <a:cxnLst/>
            <a:rect l="l" t="t" r="r" b="b"/>
            <a:pathLst>
              <a:path w="14586046" h="13024670">
                <a:moveTo>
                  <a:pt x="0" y="0"/>
                </a:moveTo>
                <a:lnTo>
                  <a:pt x="14586046" y="0"/>
                </a:lnTo>
                <a:lnTo>
                  <a:pt x="14586046" y="13024670"/>
                </a:lnTo>
                <a:lnTo>
                  <a:pt x="0" y="13024670"/>
                </a:lnTo>
                <a:lnTo>
                  <a:pt x="0" y="0"/>
                </a:lnTo>
                <a:close/>
              </a:path>
            </a:pathLst>
          </a:custGeom>
          <a:blipFill>
            <a:blip r:embed="rId2"/>
            <a:stretch>
              <a:fillRect l="-17013" r="-17013"/>
            </a:stretch>
          </a:blipFill>
        </p:spPr>
      </p:sp>
      <p:sp>
        <p:nvSpPr>
          <p:cNvPr id="3" name="Freeform 3"/>
          <p:cNvSpPr/>
          <p:nvPr/>
        </p:nvSpPr>
        <p:spPr>
          <a:xfrm>
            <a:off x="15070998" y="6937843"/>
            <a:ext cx="2320457" cy="2320457"/>
          </a:xfrm>
          <a:custGeom>
            <a:avLst/>
            <a:gdLst/>
            <a:ahLst/>
            <a:cxnLst/>
            <a:rect l="l" t="t" r="r" b="b"/>
            <a:pathLst>
              <a:path w="2320457" h="2320457">
                <a:moveTo>
                  <a:pt x="0" y="0"/>
                </a:moveTo>
                <a:lnTo>
                  <a:pt x="2320457" y="0"/>
                </a:lnTo>
                <a:lnTo>
                  <a:pt x="2320457" y="2320457"/>
                </a:lnTo>
                <a:lnTo>
                  <a:pt x="0" y="2320457"/>
                </a:lnTo>
                <a:lnTo>
                  <a:pt x="0" y="0"/>
                </a:lnTo>
                <a:close/>
              </a:path>
            </a:pathLst>
          </a:custGeom>
          <a:blipFill>
            <a:blip r:embed="rId3"/>
            <a:stretch>
              <a:fillRect/>
            </a:stretch>
          </a:blipFill>
        </p:spPr>
      </p:sp>
      <p:sp>
        <p:nvSpPr>
          <p:cNvPr id="4" name="Freeform 4"/>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4"/>
            <a:stretch>
              <a:fillRect t="-50871" b="-50871"/>
            </a:stretch>
          </a:blipFill>
        </p:spPr>
      </p:sp>
      <p:sp>
        <p:nvSpPr>
          <p:cNvPr id="5" name="Freeform 5"/>
          <p:cNvSpPr/>
          <p:nvPr/>
        </p:nvSpPr>
        <p:spPr>
          <a:xfrm>
            <a:off x="1121912" y="6800774"/>
            <a:ext cx="533917" cy="732647"/>
          </a:xfrm>
          <a:custGeom>
            <a:avLst/>
            <a:gdLst/>
            <a:ahLst/>
            <a:cxnLst/>
            <a:rect l="l" t="t" r="r" b="b"/>
            <a:pathLst>
              <a:path w="533917" h="732647">
                <a:moveTo>
                  <a:pt x="0" y="0"/>
                </a:moveTo>
                <a:lnTo>
                  <a:pt x="533917" y="0"/>
                </a:lnTo>
                <a:lnTo>
                  <a:pt x="533917" y="732647"/>
                </a:lnTo>
                <a:lnTo>
                  <a:pt x="0" y="73264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028700" y="7886976"/>
            <a:ext cx="720341" cy="712483"/>
          </a:xfrm>
          <a:custGeom>
            <a:avLst/>
            <a:gdLst/>
            <a:ahLst/>
            <a:cxnLst/>
            <a:rect l="l" t="t" r="r" b="b"/>
            <a:pathLst>
              <a:path w="720341" h="712483">
                <a:moveTo>
                  <a:pt x="0" y="0"/>
                </a:moveTo>
                <a:lnTo>
                  <a:pt x="720341" y="0"/>
                </a:lnTo>
                <a:lnTo>
                  <a:pt x="720341" y="712483"/>
                </a:lnTo>
                <a:lnTo>
                  <a:pt x="0" y="71248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28700" y="8993066"/>
            <a:ext cx="622606" cy="847607"/>
          </a:xfrm>
          <a:custGeom>
            <a:avLst/>
            <a:gdLst/>
            <a:ahLst/>
            <a:cxnLst/>
            <a:rect l="l" t="t" r="r" b="b"/>
            <a:pathLst>
              <a:path w="622606" h="847607">
                <a:moveTo>
                  <a:pt x="0" y="0"/>
                </a:moveTo>
                <a:lnTo>
                  <a:pt x="622606" y="0"/>
                </a:lnTo>
                <a:lnTo>
                  <a:pt x="622606" y="847606"/>
                </a:lnTo>
                <a:lnTo>
                  <a:pt x="0" y="84760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AutoShape 8"/>
          <p:cNvSpPr/>
          <p:nvPr/>
        </p:nvSpPr>
        <p:spPr>
          <a:xfrm flipV="1">
            <a:off x="10697779" y="6840476"/>
            <a:ext cx="6561490" cy="14288"/>
          </a:xfrm>
          <a:prstGeom prst="line">
            <a:avLst/>
          </a:prstGeom>
          <a:ln w="28575" cap="flat">
            <a:solidFill>
              <a:srgbClr val="000000"/>
            </a:solidFill>
            <a:prstDash val="solid"/>
            <a:headEnd type="none" w="sm" len="sm"/>
            <a:tailEnd type="none" w="sm" len="sm"/>
          </a:ln>
        </p:spPr>
      </p:sp>
      <p:grpSp>
        <p:nvGrpSpPr>
          <p:cNvPr id="9" name="Group 9"/>
          <p:cNvGrpSpPr/>
          <p:nvPr/>
        </p:nvGrpSpPr>
        <p:grpSpPr>
          <a:xfrm>
            <a:off x="1028700" y="1028700"/>
            <a:ext cx="2355171" cy="2355161"/>
            <a:chOff x="0" y="0"/>
            <a:chExt cx="6350000" cy="6349975"/>
          </a:xfrm>
        </p:grpSpPr>
        <p:sp>
          <p:nvSpPr>
            <p:cNvPr id="10" name="Freeform 10"/>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8"/>
              <a:stretch>
                <a:fillRect l="-5324" r="-5324"/>
              </a:stretch>
            </a:blipFill>
          </p:spPr>
        </p:sp>
      </p:grpSp>
      <p:sp>
        <p:nvSpPr>
          <p:cNvPr id="11" name="Freeform 11"/>
          <p:cNvSpPr/>
          <p:nvPr/>
        </p:nvSpPr>
        <p:spPr>
          <a:xfrm>
            <a:off x="-3034660" y="0"/>
            <a:ext cx="23206120" cy="10544792"/>
          </a:xfrm>
          <a:custGeom>
            <a:avLst/>
            <a:gdLst/>
            <a:ahLst/>
            <a:cxnLst/>
            <a:rect l="l" t="t" r="r" b="b"/>
            <a:pathLst>
              <a:path w="23206120" h="10544792">
                <a:moveTo>
                  <a:pt x="0" y="0"/>
                </a:moveTo>
                <a:lnTo>
                  <a:pt x="23206121" y="0"/>
                </a:lnTo>
                <a:lnTo>
                  <a:pt x="23206121" y="10544792"/>
                </a:lnTo>
                <a:lnTo>
                  <a:pt x="0" y="10544792"/>
                </a:lnTo>
                <a:lnTo>
                  <a:pt x="0" y="0"/>
                </a:lnTo>
                <a:close/>
              </a:path>
            </a:pathLst>
          </a:custGeom>
          <a:blipFill>
            <a:blip r:embed="rId9">
              <a:alphaModFix amt="18000"/>
            </a:blip>
            <a:stretch>
              <a:fillRect t="-22134" b="-24579"/>
            </a:stretch>
          </a:blipFill>
        </p:spPr>
      </p:sp>
      <p:sp>
        <p:nvSpPr>
          <p:cNvPr id="12" name="TextBox 12"/>
          <p:cNvSpPr txBox="1"/>
          <p:nvPr/>
        </p:nvSpPr>
        <p:spPr>
          <a:xfrm>
            <a:off x="1028700" y="3591849"/>
            <a:ext cx="11286600" cy="1368424"/>
          </a:xfrm>
          <a:prstGeom prst="rect">
            <a:avLst/>
          </a:prstGeom>
        </p:spPr>
        <p:txBody>
          <a:bodyPr lIns="0" tIns="0" rIns="0" bIns="0" rtlCol="0" anchor="t">
            <a:spAutoFit/>
          </a:bodyPr>
          <a:lstStyle/>
          <a:p>
            <a:pPr algn="l">
              <a:lnSpc>
                <a:spcPts val="11200"/>
              </a:lnSpc>
            </a:pPr>
            <a:r>
              <a:rPr lang="en-US" sz="8000" spc="-160">
                <a:solidFill>
                  <a:srgbClr val="080708"/>
                </a:solidFill>
                <a:latin typeface="Anton"/>
                <a:ea typeface="Anton"/>
                <a:cs typeface="Anton"/>
                <a:sym typeface="Anton"/>
              </a:rPr>
              <a:t>Alaina Enterprise</a:t>
            </a:r>
          </a:p>
        </p:txBody>
      </p:sp>
      <p:sp>
        <p:nvSpPr>
          <p:cNvPr id="13" name="TextBox 13"/>
          <p:cNvSpPr txBox="1"/>
          <p:nvPr/>
        </p:nvSpPr>
        <p:spPr>
          <a:xfrm>
            <a:off x="1028700" y="4807873"/>
            <a:ext cx="6837238" cy="1368424"/>
          </a:xfrm>
          <a:prstGeom prst="rect">
            <a:avLst/>
          </a:prstGeom>
        </p:spPr>
        <p:txBody>
          <a:bodyPr lIns="0" tIns="0" rIns="0" bIns="0" rtlCol="0" anchor="t">
            <a:spAutoFit/>
          </a:bodyPr>
          <a:lstStyle/>
          <a:p>
            <a:pPr algn="l">
              <a:lnSpc>
                <a:spcPts val="11200"/>
              </a:lnSpc>
            </a:pPr>
            <a:r>
              <a:rPr lang="en-US" sz="8000" spc="-160">
                <a:solidFill>
                  <a:srgbClr val="31DAFF"/>
                </a:solidFill>
                <a:latin typeface="Anton"/>
                <a:ea typeface="Anton"/>
                <a:cs typeface="Anton"/>
                <a:sym typeface="Anton"/>
              </a:rPr>
              <a:t>Profile</a:t>
            </a:r>
          </a:p>
        </p:txBody>
      </p:sp>
      <p:sp>
        <p:nvSpPr>
          <p:cNvPr id="14" name="TextBox 14"/>
          <p:cNvSpPr txBox="1"/>
          <p:nvPr/>
        </p:nvSpPr>
        <p:spPr>
          <a:xfrm>
            <a:off x="1946837" y="7916175"/>
            <a:ext cx="9037480" cy="831850"/>
          </a:xfrm>
          <a:prstGeom prst="rect">
            <a:avLst/>
          </a:prstGeom>
        </p:spPr>
        <p:txBody>
          <a:bodyPr lIns="0" tIns="0" rIns="0" bIns="0" rtlCol="0" anchor="t">
            <a:spAutoFit/>
          </a:bodyPr>
          <a:lstStyle/>
          <a:p>
            <a:pPr algn="l">
              <a:lnSpc>
                <a:spcPts val="3349"/>
              </a:lnSpc>
            </a:pPr>
            <a:r>
              <a:rPr lang="en-US" sz="2499" spc="39">
                <a:solidFill>
                  <a:srgbClr val="2A2F38"/>
                </a:solidFill>
                <a:latin typeface="Inter"/>
                <a:ea typeface="Inter"/>
                <a:cs typeface="Inter"/>
                <a:sym typeface="Inter"/>
              </a:rPr>
              <a:t>info@alainaenterprise.com</a:t>
            </a:r>
          </a:p>
          <a:p>
            <a:pPr algn="l">
              <a:lnSpc>
                <a:spcPts val="3349"/>
              </a:lnSpc>
            </a:pPr>
            <a:r>
              <a:rPr lang="en-US" sz="2499" spc="39">
                <a:solidFill>
                  <a:srgbClr val="2A2F38"/>
                </a:solidFill>
                <a:latin typeface="Inter"/>
                <a:ea typeface="Inter"/>
                <a:cs typeface="Inter"/>
                <a:sym typeface="Inter"/>
              </a:rPr>
              <a:t>www.alainaenterprise</a:t>
            </a:r>
          </a:p>
        </p:txBody>
      </p:sp>
      <p:sp>
        <p:nvSpPr>
          <p:cNvPr id="15" name="TextBox 15"/>
          <p:cNvSpPr txBox="1"/>
          <p:nvPr/>
        </p:nvSpPr>
        <p:spPr>
          <a:xfrm>
            <a:off x="1946837" y="8993066"/>
            <a:ext cx="9604813" cy="742950"/>
          </a:xfrm>
          <a:prstGeom prst="rect">
            <a:avLst/>
          </a:prstGeom>
        </p:spPr>
        <p:txBody>
          <a:bodyPr lIns="0" tIns="0" rIns="0" bIns="0" rtlCol="0" anchor="t">
            <a:spAutoFit/>
          </a:bodyPr>
          <a:lstStyle/>
          <a:p>
            <a:pPr algn="l">
              <a:lnSpc>
                <a:spcPts val="2999"/>
              </a:lnSpc>
            </a:pPr>
            <a:r>
              <a:rPr lang="en-US" sz="2499" spc="-22">
                <a:solidFill>
                  <a:srgbClr val="2A2F38"/>
                </a:solidFill>
                <a:latin typeface="Inter"/>
                <a:ea typeface="Inter"/>
                <a:cs typeface="Inter"/>
                <a:sym typeface="Inter"/>
              </a:rPr>
              <a:t>Flat-1/B, House-508 (2nd Floor)</a:t>
            </a:r>
          </a:p>
          <a:p>
            <a:pPr algn="l">
              <a:lnSpc>
                <a:spcPts val="2999"/>
              </a:lnSpc>
            </a:pPr>
            <a:r>
              <a:rPr lang="en-US" sz="2499" spc="-22">
                <a:solidFill>
                  <a:srgbClr val="2A2F38"/>
                </a:solidFill>
                <a:latin typeface="Inter"/>
                <a:ea typeface="Inter"/>
                <a:cs typeface="Inter"/>
                <a:sym typeface="Inter"/>
              </a:rPr>
              <a:t>Road-7, Ave-3, DOHS, Mirpur-12, Dhaka,Bangladesh.</a:t>
            </a:r>
          </a:p>
        </p:txBody>
      </p:sp>
      <p:sp>
        <p:nvSpPr>
          <p:cNvPr id="16" name="TextBox 16"/>
          <p:cNvSpPr txBox="1"/>
          <p:nvPr/>
        </p:nvSpPr>
        <p:spPr>
          <a:xfrm>
            <a:off x="1946837" y="6762674"/>
            <a:ext cx="7768538" cy="831850"/>
          </a:xfrm>
          <a:prstGeom prst="rect">
            <a:avLst/>
          </a:prstGeom>
        </p:spPr>
        <p:txBody>
          <a:bodyPr lIns="0" tIns="0" rIns="0" bIns="0" rtlCol="0" anchor="t">
            <a:spAutoFit/>
          </a:bodyPr>
          <a:lstStyle/>
          <a:p>
            <a:pPr algn="l">
              <a:lnSpc>
                <a:spcPts val="3349"/>
              </a:lnSpc>
            </a:pPr>
            <a:r>
              <a:rPr lang="en-US" sz="2499" spc="39">
                <a:solidFill>
                  <a:srgbClr val="2A2F38"/>
                </a:solidFill>
                <a:latin typeface="Inter"/>
                <a:ea typeface="Inter"/>
                <a:cs typeface="Inter"/>
                <a:sym typeface="Inter"/>
              </a:rPr>
              <a:t>+88 01819833911</a:t>
            </a:r>
          </a:p>
          <a:p>
            <a:pPr algn="l">
              <a:lnSpc>
                <a:spcPts val="3349"/>
              </a:lnSpc>
            </a:pPr>
            <a:r>
              <a:rPr lang="en-US" sz="2499" spc="39">
                <a:solidFill>
                  <a:srgbClr val="2A2F38"/>
                </a:solidFill>
                <a:latin typeface="Inter"/>
                <a:ea typeface="Inter"/>
                <a:cs typeface="Inter"/>
                <a:sym typeface="Inter"/>
              </a:rPr>
              <a:t>+88 01805032400</a:t>
            </a:r>
          </a:p>
        </p:txBody>
      </p:sp>
      <p:sp>
        <p:nvSpPr>
          <p:cNvPr id="17" name="TextBox 17"/>
          <p:cNvSpPr txBox="1"/>
          <p:nvPr/>
        </p:nvSpPr>
        <p:spPr>
          <a:xfrm>
            <a:off x="10354351" y="6883770"/>
            <a:ext cx="5004914" cy="2480770"/>
          </a:xfrm>
          <a:prstGeom prst="rect">
            <a:avLst/>
          </a:prstGeom>
        </p:spPr>
        <p:txBody>
          <a:bodyPr lIns="0" tIns="0" rIns="0" bIns="0" rtlCol="0" anchor="t">
            <a:spAutoFit/>
          </a:bodyPr>
          <a:lstStyle/>
          <a:p>
            <a:pPr marL="925363" lvl="1" indent="-462682" algn="l">
              <a:lnSpc>
                <a:spcPts val="6771"/>
              </a:lnSpc>
              <a:buFont typeface="Arial"/>
              <a:buChar char="•"/>
            </a:pPr>
            <a:r>
              <a:rPr lang="en-US" sz="4286" spc="334">
                <a:solidFill>
                  <a:srgbClr val="000000"/>
                </a:solidFill>
                <a:latin typeface="Impact"/>
                <a:ea typeface="Impact"/>
                <a:cs typeface="Impact"/>
                <a:sym typeface="Impact"/>
              </a:rPr>
              <a:t>Passenger Lift</a:t>
            </a:r>
          </a:p>
          <a:p>
            <a:pPr marL="925363" lvl="1" indent="-462682" algn="l">
              <a:lnSpc>
                <a:spcPts val="6771"/>
              </a:lnSpc>
              <a:buFont typeface="Arial"/>
              <a:buChar char="•"/>
            </a:pPr>
            <a:r>
              <a:rPr lang="en-US" sz="4286" spc="334">
                <a:solidFill>
                  <a:srgbClr val="000000"/>
                </a:solidFill>
                <a:latin typeface="Impact"/>
                <a:ea typeface="Impact"/>
                <a:cs typeface="Impact"/>
                <a:sym typeface="Impact"/>
              </a:rPr>
              <a:t>Rooptop Solar</a:t>
            </a:r>
          </a:p>
          <a:p>
            <a:pPr marL="925363" lvl="1" indent="-462682" algn="l">
              <a:lnSpc>
                <a:spcPts val="6771"/>
              </a:lnSpc>
              <a:buFont typeface="Arial"/>
              <a:buChar char="•"/>
            </a:pPr>
            <a:r>
              <a:rPr lang="en-US" sz="4286" spc="334">
                <a:solidFill>
                  <a:srgbClr val="000000"/>
                </a:solidFill>
                <a:latin typeface="Impact"/>
                <a:ea typeface="Impact"/>
                <a:cs typeface="Impact"/>
                <a:sym typeface="Impact"/>
              </a:rPr>
              <a:t>Sub-Station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62" y="0"/>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grpSp>
        <p:nvGrpSpPr>
          <p:cNvPr id="3" name="Group 3"/>
          <p:cNvGrpSpPr/>
          <p:nvPr/>
        </p:nvGrpSpPr>
        <p:grpSpPr>
          <a:xfrm>
            <a:off x="769361" y="1481435"/>
            <a:ext cx="5098041" cy="7982763"/>
            <a:chOff x="-87982" y="-68950"/>
            <a:chExt cx="800737" cy="1253834"/>
          </a:xfrm>
        </p:grpSpPr>
        <p:sp>
          <p:nvSpPr>
            <p:cNvPr id="4" name="Freeform 4"/>
            <p:cNvSpPr/>
            <p:nvPr/>
          </p:nvSpPr>
          <p:spPr>
            <a:xfrm>
              <a:off x="-87982" y="-68950"/>
              <a:ext cx="800737" cy="1253834"/>
            </a:xfrm>
            <a:custGeom>
              <a:avLst/>
              <a:gdLst/>
              <a:ahLst/>
              <a:cxnLst/>
              <a:rect l="l" t="t" r="r" b="b"/>
              <a:pathLst>
                <a:path w="933629" h="1152544">
                  <a:moveTo>
                    <a:pt x="0" y="0"/>
                  </a:moveTo>
                  <a:lnTo>
                    <a:pt x="933629" y="0"/>
                  </a:lnTo>
                  <a:lnTo>
                    <a:pt x="933629" y="1152544"/>
                  </a:lnTo>
                  <a:lnTo>
                    <a:pt x="0" y="1152544"/>
                  </a:lnTo>
                  <a:close/>
                </a:path>
              </a:pathLst>
            </a:custGeom>
            <a:blipFill>
              <a:blip r:embed="rId3"/>
              <a:stretch>
                <a:fillRect l="-42643" r="-42643"/>
              </a:stretch>
            </a:blipFill>
          </p:spPr>
        </p:sp>
      </p:grpSp>
      <p:grpSp>
        <p:nvGrpSpPr>
          <p:cNvPr id="5" name="Group 5"/>
          <p:cNvGrpSpPr/>
          <p:nvPr/>
        </p:nvGrpSpPr>
        <p:grpSpPr>
          <a:xfrm>
            <a:off x="6400801" y="1481435"/>
            <a:ext cx="10858500" cy="7776865"/>
            <a:chOff x="0" y="0"/>
            <a:chExt cx="2500293" cy="1932611"/>
          </a:xfrm>
        </p:grpSpPr>
        <p:sp>
          <p:nvSpPr>
            <p:cNvPr id="6" name="Freeform 6"/>
            <p:cNvSpPr/>
            <p:nvPr/>
          </p:nvSpPr>
          <p:spPr>
            <a:xfrm>
              <a:off x="0" y="0"/>
              <a:ext cx="2500293" cy="1932611"/>
            </a:xfrm>
            <a:custGeom>
              <a:avLst/>
              <a:gdLst/>
              <a:ahLst/>
              <a:cxnLst/>
              <a:rect l="l" t="t" r="r" b="b"/>
              <a:pathLst>
                <a:path w="2500293" h="1932611">
                  <a:moveTo>
                    <a:pt x="0" y="0"/>
                  </a:moveTo>
                  <a:lnTo>
                    <a:pt x="2500293" y="0"/>
                  </a:lnTo>
                  <a:lnTo>
                    <a:pt x="2500293" y="1932611"/>
                  </a:lnTo>
                  <a:lnTo>
                    <a:pt x="0" y="1932611"/>
                  </a:lnTo>
                  <a:close/>
                </a:path>
              </a:pathLst>
            </a:custGeom>
            <a:ln w="19050" cap="sq">
              <a:solidFill>
                <a:srgbClr val="000000"/>
              </a:solidFill>
              <a:prstDash val="solid"/>
              <a:miter/>
            </a:ln>
          </p:spPr>
        </p:sp>
        <p:sp>
          <p:nvSpPr>
            <p:cNvPr id="7" name="TextBox 7"/>
            <p:cNvSpPr txBox="1"/>
            <p:nvPr/>
          </p:nvSpPr>
          <p:spPr>
            <a:xfrm>
              <a:off x="0" y="47625"/>
              <a:ext cx="2500293" cy="1884986"/>
            </a:xfrm>
            <a:prstGeom prst="rect">
              <a:avLst/>
            </a:prstGeom>
          </p:spPr>
          <p:txBody>
            <a:bodyPr lIns="50800" tIns="50800" rIns="50800" bIns="50800" rtlCol="0" anchor="ctr"/>
            <a:lstStyle/>
            <a:p>
              <a:pPr algn="ctr">
                <a:lnSpc>
                  <a:spcPts val="1134"/>
                </a:lnSpc>
              </a:pPr>
              <a:endParaRPr/>
            </a:p>
          </p:txBody>
        </p:sp>
      </p:grpSp>
      <p:sp>
        <p:nvSpPr>
          <p:cNvPr id="8" name="TextBox 8"/>
          <p:cNvSpPr txBox="1"/>
          <p:nvPr/>
        </p:nvSpPr>
        <p:spPr>
          <a:xfrm>
            <a:off x="1329515" y="296863"/>
            <a:ext cx="8563121" cy="1038225"/>
          </a:xfrm>
          <a:prstGeom prst="rect">
            <a:avLst/>
          </a:prstGeom>
        </p:spPr>
        <p:txBody>
          <a:bodyPr lIns="0" tIns="0" rIns="0" bIns="0" rtlCol="0" anchor="t">
            <a:spAutoFit/>
          </a:bodyPr>
          <a:lstStyle/>
          <a:p>
            <a:pPr algn="l">
              <a:lnSpc>
                <a:spcPts val="8400"/>
              </a:lnSpc>
            </a:pPr>
            <a:r>
              <a:rPr lang="en-US" sz="6000" spc="-120">
                <a:solidFill>
                  <a:srgbClr val="080708"/>
                </a:solidFill>
                <a:latin typeface="Anton"/>
                <a:ea typeface="Anton"/>
                <a:cs typeface="Anton"/>
                <a:sym typeface="Anton"/>
              </a:rPr>
              <a:t>About Us</a:t>
            </a:r>
          </a:p>
        </p:txBody>
      </p:sp>
      <p:sp>
        <p:nvSpPr>
          <p:cNvPr id="9" name="TextBox 9"/>
          <p:cNvSpPr txBox="1"/>
          <p:nvPr/>
        </p:nvSpPr>
        <p:spPr>
          <a:xfrm>
            <a:off x="7012227" y="2054091"/>
            <a:ext cx="4263546" cy="646431"/>
          </a:xfrm>
          <a:prstGeom prst="rect">
            <a:avLst/>
          </a:prstGeom>
        </p:spPr>
        <p:txBody>
          <a:bodyPr lIns="0" tIns="0" rIns="0" bIns="0" rtlCol="0" anchor="t">
            <a:spAutoFit/>
          </a:bodyPr>
          <a:lstStyle/>
          <a:p>
            <a:pPr algn="l">
              <a:lnSpc>
                <a:spcPts val="5319"/>
              </a:lnSpc>
            </a:pPr>
            <a:r>
              <a:rPr lang="en-US" sz="3799" b="1" spc="-75" dirty="0">
                <a:solidFill>
                  <a:srgbClr val="080708"/>
                </a:solidFill>
                <a:latin typeface="Open Sauce Bold"/>
                <a:ea typeface="Open Sauce Bold"/>
                <a:cs typeface="Open Sauce Bold"/>
                <a:sym typeface="Open Sauce Bold"/>
              </a:rPr>
              <a:t>Who We Are</a:t>
            </a:r>
          </a:p>
        </p:txBody>
      </p:sp>
      <p:sp>
        <p:nvSpPr>
          <p:cNvPr id="10" name="TextBox 10"/>
          <p:cNvSpPr txBox="1"/>
          <p:nvPr/>
        </p:nvSpPr>
        <p:spPr>
          <a:xfrm>
            <a:off x="7239000" y="3071294"/>
            <a:ext cx="9539987" cy="5309082"/>
          </a:xfrm>
          <a:prstGeom prst="rect">
            <a:avLst/>
          </a:prstGeom>
        </p:spPr>
        <p:txBody>
          <a:bodyPr wrap="square" lIns="0" tIns="0" rIns="0" bIns="0" rtlCol="0" anchor="t">
            <a:spAutoFit/>
          </a:bodyPr>
          <a:lstStyle/>
          <a:p>
            <a:pPr algn="l">
              <a:lnSpc>
                <a:spcPts val="3181"/>
              </a:lnSpc>
            </a:pPr>
            <a:r>
              <a:rPr lang="en-US" sz="2272" spc="-115" dirty="0">
                <a:solidFill>
                  <a:srgbClr val="212121"/>
                </a:solidFill>
                <a:ea typeface="Open Sauce"/>
                <a:cs typeface="Open Sauce"/>
                <a:sym typeface="Open Sauce"/>
              </a:rPr>
              <a:t>ALAINA ENTERPRISE provides one-stop solution for Elevators, Electrical houses and industrial solution generators and civil works. Depending on the size and ﬁeld of your organization, we have diﬀerent products and services to meet your business requirements. We provide optimum and customized solutions to accelerate your business and organization.</a:t>
            </a:r>
          </a:p>
          <a:p>
            <a:pPr algn="l">
              <a:lnSpc>
                <a:spcPts val="3181"/>
              </a:lnSpc>
            </a:pPr>
            <a:endParaRPr lang="en-US" sz="2272" spc="-115" dirty="0">
              <a:solidFill>
                <a:srgbClr val="212121"/>
              </a:solidFill>
              <a:ea typeface="Open Sauce"/>
              <a:cs typeface="Open Sauce"/>
              <a:sym typeface="Open Sauce"/>
            </a:endParaRPr>
          </a:p>
          <a:p>
            <a:pPr algn="l">
              <a:lnSpc>
                <a:spcPts val="3181"/>
              </a:lnSpc>
            </a:pPr>
            <a:r>
              <a:rPr lang="en-US" sz="2272" spc="-115" dirty="0">
                <a:solidFill>
                  <a:srgbClr val="212121"/>
                </a:solidFill>
                <a:ea typeface="Open Sauce"/>
                <a:cs typeface="Open Sauce"/>
                <a:sym typeface="Open Sauce"/>
              </a:rPr>
              <a:t>ALAINA ENTERPRISE began its business operation as an enterprise passenger elevator, civil works, electrical industry, and house wiring large and small buildings, industries, and government sectors.</a:t>
            </a:r>
          </a:p>
          <a:p>
            <a:pPr algn="l">
              <a:lnSpc>
                <a:spcPts val="3181"/>
              </a:lnSpc>
            </a:pPr>
            <a:r>
              <a:rPr lang="en-US" sz="2272" spc="-115" dirty="0">
                <a:solidFill>
                  <a:srgbClr val="212121"/>
                </a:solidFill>
                <a:ea typeface="Open Sauce"/>
                <a:cs typeface="Open Sauce"/>
                <a:sym typeface="Open Sauce"/>
              </a:rPr>
              <a:t>ALAINA Enterprise focuses exclusively on high-quality and cost- eﬀective service implementation. We are advancing at a tremendous pace and with the involvement of skilled and experienced people working in the organization. ALIANA ENTERPRISE is currently doing business in Government.</a:t>
            </a:r>
          </a:p>
          <a:p>
            <a:pPr algn="l">
              <a:lnSpc>
                <a:spcPts val="3181"/>
              </a:lnSpc>
            </a:pPr>
            <a:endParaRPr lang="en-US" sz="2272" spc="-115" dirty="0">
              <a:solidFill>
                <a:srgbClr val="212121"/>
              </a:solidFill>
              <a:ea typeface="Open Sauce"/>
              <a:cs typeface="Open Sauce"/>
              <a:sym typeface="Open Sauce"/>
            </a:endParaRPr>
          </a:p>
        </p:txBody>
      </p:sp>
      <p:sp>
        <p:nvSpPr>
          <p:cNvPr id="11" name="AutoShape 11"/>
          <p:cNvSpPr/>
          <p:nvPr/>
        </p:nvSpPr>
        <p:spPr>
          <a:xfrm>
            <a:off x="7239000" y="2776203"/>
            <a:ext cx="3497966" cy="0"/>
          </a:xfrm>
          <a:prstGeom prst="line">
            <a:avLst/>
          </a:prstGeom>
          <a:ln w="19050" cap="flat">
            <a:solidFill>
              <a:srgbClr val="000000"/>
            </a:solidFill>
            <a:prstDash val="solid"/>
            <a:headEnd type="none" w="sm" len="sm"/>
            <a:tailEnd type="none" w="sm" len="sm"/>
          </a:ln>
        </p:spPr>
      </p:sp>
      <p:sp>
        <p:nvSpPr>
          <p:cNvPr id="12" name="Freeform 12"/>
          <p:cNvSpPr/>
          <p:nvPr/>
        </p:nvSpPr>
        <p:spPr>
          <a:xfrm flipH="1">
            <a:off x="-2994" y="8129108"/>
            <a:ext cx="18290994" cy="2258384"/>
          </a:xfrm>
          <a:custGeom>
            <a:avLst/>
            <a:gdLst/>
            <a:ahLst/>
            <a:cxnLst/>
            <a:rect l="l" t="t" r="r" b="b"/>
            <a:pathLst>
              <a:path w="18290994" h="2258384">
                <a:moveTo>
                  <a:pt x="18290994" y="0"/>
                </a:moveTo>
                <a:lnTo>
                  <a:pt x="0" y="0"/>
                </a:lnTo>
                <a:lnTo>
                  <a:pt x="0" y="2258384"/>
                </a:lnTo>
                <a:lnTo>
                  <a:pt x="18290994" y="2258384"/>
                </a:lnTo>
                <a:lnTo>
                  <a:pt x="18290994" y="0"/>
                </a:lnTo>
                <a:close/>
              </a:path>
            </a:pathLst>
          </a:custGeom>
          <a:blipFill>
            <a:blip r:embed="rId4"/>
            <a:stretch>
              <a:fillRect t="-58976" b="-42765"/>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sp>
        <p:nvSpPr>
          <p:cNvPr id="3" name="TextBox 3"/>
          <p:cNvSpPr txBox="1"/>
          <p:nvPr/>
        </p:nvSpPr>
        <p:spPr>
          <a:xfrm>
            <a:off x="1028700" y="432896"/>
            <a:ext cx="8733897" cy="773430"/>
          </a:xfrm>
          <a:prstGeom prst="rect">
            <a:avLst/>
          </a:prstGeom>
        </p:spPr>
        <p:txBody>
          <a:bodyPr lIns="0" tIns="0" rIns="0" bIns="0" rtlCol="0" anchor="t">
            <a:spAutoFit/>
          </a:bodyPr>
          <a:lstStyle/>
          <a:p>
            <a:pPr algn="l">
              <a:lnSpc>
                <a:spcPts val="5759"/>
              </a:lnSpc>
            </a:pPr>
            <a:r>
              <a:rPr lang="en-US" sz="6000" spc="-120">
                <a:solidFill>
                  <a:srgbClr val="2A2F38"/>
                </a:solidFill>
                <a:latin typeface="Anton"/>
                <a:ea typeface="Anton"/>
                <a:cs typeface="Anton"/>
                <a:sym typeface="Anton"/>
              </a:rPr>
              <a:t>Our Mission &amp; Vision</a:t>
            </a:r>
          </a:p>
        </p:txBody>
      </p:sp>
      <p:sp>
        <p:nvSpPr>
          <p:cNvPr id="4" name="TextBox 4"/>
          <p:cNvSpPr txBox="1"/>
          <p:nvPr/>
        </p:nvSpPr>
        <p:spPr>
          <a:xfrm>
            <a:off x="1028700" y="2479506"/>
            <a:ext cx="4176840" cy="5830443"/>
          </a:xfrm>
          <a:prstGeom prst="rect">
            <a:avLst/>
          </a:prstGeom>
        </p:spPr>
        <p:txBody>
          <a:bodyPr lIns="0" tIns="0" rIns="0" bIns="0" rtlCol="0" anchor="t">
            <a:spAutoFit/>
          </a:bodyPr>
          <a:lstStyle/>
          <a:p>
            <a:pPr algn="just">
              <a:lnSpc>
                <a:spcPts val="3086"/>
              </a:lnSpc>
            </a:pPr>
            <a:r>
              <a:rPr lang="en-US" sz="2204" spc="-112">
                <a:solidFill>
                  <a:srgbClr val="212121"/>
                </a:solidFill>
                <a:latin typeface="Open Sauce"/>
                <a:ea typeface="Open Sauce"/>
                <a:cs typeface="Open Sauce"/>
                <a:sym typeface="Open Sauce"/>
              </a:rPr>
              <a:t>Our Mission is to achieve the reputation of a quality, high-standard &amp; reliable solution &amp; service Provider Company for various types of companies Industry."</a:t>
            </a:r>
          </a:p>
          <a:p>
            <a:pPr algn="just">
              <a:lnSpc>
                <a:spcPts val="3086"/>
              </a:lnSpc>
            </a:pPr>
            <a:r>
              <a:rPr lang="en-US" sz="2204" spc="-112">
                <a:solidFill>
                  <a:srgbClr val="212121"/>
                </a:solidFill>
                <a:latin typeface="Open Sauce"/>
                <a:ea typeface="Open Sauce"/>
                <a:cs typeface="Open Sauce"/>
                <a:sym typeface="Open Sauce"/>
              </a:rPr>
              <a:t>This sentence couldbe improved for clarity and grammar. Here'sa revised version:</a:t>
            </a:r>
          </a:p>
          <a:p>
            <a:pPr algn="just">
              <a:lnSpc>
                <a:spcPts val="3086"/>
              </a:lnSpc>
            </a:pPr>
            <a:r>
              <a:rPr lang="en-US" sz="2204" spc="-112">
                <a:solidFill>
                  <a:srgbClr val="212121"/>
                </a:solidFill>
                <a:latin typeface="Open Sauce"/>
                <a:ea typeface="Open Sauce"/>
                <a:cs typeface="Open Sauce"/>
                <a:sym typeface="Open Sauce"/>
              </a:rPr>
              <a:t>"Our mission is to build a reputation as a high-quality, reliable, and standards-driven provider of solutions and services for companies across</a:t>
            </a:r>
          </a:p>
          <a:p>
            <a:pPr algn="just">
              <a:lnSpc>
                <a:spcPts val="3086"/>
              </a:lnSpc>
            </a:pPr>
            <a:endParaRPr lang="en-US" sz="2204" spc="-112">
              <a:solidFill>
                <a:srgbClr val="212121"/>
              </a:solidFill>
              <a:latin typeface="Open Sauce"/>
              <a:ea typeface="Open Sauce"/>
              <a:cs typeface="Open Sauce"/>
              <a:sym typeface="Open Sauce"/>
            </a:endParaRPr>
          </a:p>
        </p:txBody>
      </p:sp>
      <p:sp>
        <p:nvSpPr>
          <p:cNvPr id="5" name="TextBox 5"/>
          <p:cNvSpPr txBox="1"/>
          <p:nvPr/>
        </p:nvSpPr>
        <p:spPr>
          <a:xfrm>
            <a:off x="1028700" y="1655276"/>
            <a:ext cx="2900878" cy="580390"/>
          </a:xfrm>
          <a:prstGeom prst="rect">
            <a:avLst/>
          </a:prstGeom>
        </p:spPr>
        <p:txBody>
          <a:bodyPr lIns="0" tIns="0" rIns="0" bIns="0" rtlCol="0" anchor="t">
            <a:spAutoFit/>
          </a:bodyPr>
          <a:lstStyle/>
          <a:p>
            <a:pPr algn="l">
              <a:lnSpc>
                <a:spcPts val="4759"/>
              </a:lnSpc>
            </a:pPr>
            <a:r>
              <a:rPr lang="en-US" sz="3399" spc="975">
                <a:solidFill>
                  <a:srgbClr val="212121"/>
                </a:solidFill>
                <a:latin typeface="Anton"/>
                <a:ea typeface="Anton"/>
                <a:cs typeface="Anton"/>
                <a:sym typeface="Anton"/>
              </a:rPr>
              <a:t>Vision </a:t>
            </a:r>
          </a:p>
        </p:txBody>
      </p:sp>
      <p:sp>
        <p:nvSpPr>
          <p:cNvPr id="6" name="AutoShape 6"/>
          <p:cNvSpPr/>
          <p:nvPr/>
        </p:nvSpPr>
        <p:spPr>
          <a:xfrm>
            <a:off x="5877609" y="2317581"/>
            <a:ext cx="5443158" cy="0"/>
          </a:xfrm>
          <a:prstGeom prst="line">
            <a:avLst/>
          </a:prstGeom>
          <a:ln w="19050" cap="flat">
            <a:solidFill>
              <a:srgbClr val="000000"/>
            </a:solidFill>
            <a:prstDash val="solid"/>
            <a:headEnd type="none" w="sm" len="sm"/>
            <a:tailEnd type="none" w="sm" len="sm"/>
          </a:ln>
        </p:spPr>
      </p:sp>
      <p:sp>
        <p:nvSpPr>
          <p:cNvPr id="7" name="TextBox 7"/>
          <p:cNvSpPr txBox="1"/>
          <p:nvPr/>
        </p:nvSpPr>
        <p:spPr>
          <a:xfrm>
            <a:off x="5877609" y="1655276"/>
            <a:ext cx="2818722" cy="580390"/>
          </a:xfrm>
          <a:prstGeom prst="rect">
            <a:avLst/>
          </a:prstGeom>
        </p:spPr>
        <p:txBody>
          <a:bodyPr lIns="0" tIns="0" rIns="0" bIns="0" rtlCol="0" anchor="t">
            <a:spAutoFit/>
          </a:bodyPr>
          <a:lstStyle/>
          <a:p>
            <a:pPr algn="l">
              <a:lnSpc>
                <a:spcPts val="4759"/>
              </a:lnSpc>
            </a:pPr>
            <a:r>
              <a:rPr lang="en-US" sz="3399" spc="975">
                <a:solidFill>
                  <a:srgbClr val="212121"/>
                </a:solidFill>
                <a:latin typeface="Anton"/>
                <a:ea typeface="Anton"/>
                <a:cs typeface="Anton"/>
                <a:sym typeface="Anton"/>
              </a:rPr>
              <a:t>Mission </a:t>
            </a:r>
          </a:p>
        </p:txBody>
      </p:sp>
      <p:sp>
        <p:nvSpPr>
          <p:cNvPr id="8" name="TextBox 8"/>
          <p:cNvSpPr txBox="1"/>
          <p:nvPr/>
        </p:nvSpPr>
        <p:spPr>
          <a:xfrm>
            <a:off x="5877609" y="2469981"/>
            <a:ext cx="5443158" cy="5449570"/>
          </a:xfrm>
          <a:prstGeom prst="rect">
            <a:avLst/>
          </a:prstGeom>
        </p:spPr>
        <p:txBody>
          <a:bodyPr lIns="0" tIns="0" rIns="0" bIns="0" rtlCol="0" anchor="t">
            <a:spAutoFit/>
          </a:bodyPr>
          <a:lstStyle/>
          <a:p>
            <a:pPr algn="just">
              <a:lnSpc>
                <a:spcPts val="3079"/>
              </a:lnSpc>
            </a:pPr>
            <a:r>
              <a:rPr lang="en-US" sz="2199" b="1" spc="-112">
                <a:solidFill>
                  <a:srgbClr val="212121"/>
                </a:solidFill>
                <a:latin typeface="Open Sauce Bold"/>
                <a:ea typeface="Open Sauce Bold"/>
                <a:cs typeface="Open Sauce Bold"/>
                <a:sym typeface="Open Sauce Bold"/>
              </a:rPr>
              <a:t>Our Vision is to achieve 100% customer satisfaction by delivering quality products and servicesat an affordable cost. Our forward visionis to strive to become an entity in technology-based corporate solutions, capable of demanding an unconditional response from the targeted niche. We also believe that for our scope of improvisation – the sky is the limit and we are always readyto take our achievements to the next level. We are growingand would always like to remain on the growing streak.</a:t>
            </a:r>
          </a:p>
          <a:p>
            <a:pPr algn="just">
              <a:lnSpc>
                <a:spcPts val="3079"/>
              </a:lnSpc>
            </a:pPr>
            <a:endParaRPr lang="en-US" sz="2199" b="1" spc="-112">
              <a:solidFill>
                <a:srgbClr val="212121"/>
              </a:solidFill>
              <a:latin typeface="Open Sauce Bold"/>
              <a:ea typeface="Open Sauce Bold"/>
              <a:cs typeface="Open Sauce Bold"/>
              <a:sym typeface="Open Sauce Bold"/>
            </a:endParaRPr>
          </a:p>
        </p:txBody>
      </p:sp>
      <p:sp>
        <p:nvSpPr>
          <p:cNvPr id="9" name="AutoShape 9"/>
          <p:cNvSpPr/>
          <p:nvPr/>
        </p:nvSpPr>
        <p:spPr>
          <a:xfrm>
            <a:off x="1028700" y="2327106"/>
            <a:ext cx="4176840" cy="0"/>
          </a:xfrm>
          <a:prstGeom prst="line">
            <a:avLst/>
          </a:prstGeom>
          <a:ln w="19050" cap="flat">
            <a:solidFill>
              <a:srgbClr val="000000"/>
            </a:solidFill>
            <a:prstDash val="solid"/>
            <a:headEnd type="none" w="sm" len="sm"/>
            <a:tailEnd type="none" w="sm" len="sm"/>
          </a:ln>
        </p:spPr>
      </p:sp>
      <p:grpSp>
        <p:nvGrpSpPr>
          <p:cNvPr id="10" name="Group 10"/>
          <p:cNvGrpSpPr/>
          <p:nvPr/>
        </p:nvGrpSpPr>
        <p:grpSpPr>
          <a:xfrm>
            <a:off x="12130392" y="1893401"/>
            <a:ext cx="5770904" cy="7878957"/>
            <a:chOff x="0" y="0"/>
            <a:chExt cx="894064" cy="1220657"/>
          </a:xfrm>
        </p:grpSpPr>
        <p:sp>
          <p:nvSpPr>
            <p:cNvPr id="11" name="Freeform 11"/>
            <p:cNvSpPr/>
            <p:nvPr/>
          </p:nvSpPr>
          <p:spPr>
            <a:xfrm>
              <a:off x="0" y="0"/>
              <a:ext cx="894064" cy="1220657"/>
            </a:xfrm>
            <a:custGeom>
              <a:avLst/>
              <a:gdLst/>
              <a:ahLst/>
              <a:cxnLst/>
              <a:rect l="l" t="t" r="r" b="b"/>
              <a:pathLst>
                <a:path w="894064" h="1220657">
                  <a:moveTo>
                    <a:pt x="0" y="0"/>
                  </a:moveTo>
                  <a:lnTo>
                    <a:pt x="894064" y="0"/>
                  </a:lnTo>
                  <a:lnTo>
                    <a:pt x="894064" y="1220657"/>
                  </a:lnTo>
                  <a:lnTo>
                    <a:pt x="0" y="1220657"/>
                  </a:lnTo>
                  <a:close/>
                </a:path>
              </a:pathLst>
            </a:custGeom>
            <a:blipFill>
              <a:blip r:embed="rId3"/>
              <a:stretch>
                <a:fillRect l="-54619" r="-54619"/>
              </a:stretch>
            </a:blipFill>
          </p:spPr>
        </p:sp>
      </p:grpSp>
      <p:sp>
        <p:nvSpPr>
          <p:cNvPr id="12" name="Freeform 12"/>
          <p:cNvSpPr/>
          <p:nvPr/>
        </p:nvSpPr>
        <p:spPr>
          <a:xfrm flipH="1">
            <a:off x="-2994" y="8028616"/>
            <a:ext cx="18290994" cy="2258384"/>
          </a:xfrm>
          <a:custGeom>
            <a:avLst/>
            <a:gdLst/>
            <a:ahLst/>
            <a:cxnLst/>
            <a:rect l="l" t="t" r="r" b="b"/>
            <a:pathLst>
              <a:path w="18290994" h="2258384">
                <a:moveTo>
                  <a:pt x="18290994" y="0"/>
                </a:moveTo>
                <a:lnTo>
                  <a:pt x="0" y="0"/>
                </a:lnTo>
                <a:lnTo>
                  <a:pt x="0" y="2258384"/>
                </a:lnTo>
                <a:lnTo>
                  <a:pt x="18290994" y="2258384"/>
                </a:lnTo>
                <a:lnTo>
                  <a:pt x="18290994" y="0"/>
                </a:lnTo>
                <a:close/>
              </a:path>
            </a:pathLst>
          </a:custGeom>
          <a:blipFill>
            <a:blip r:embed="rId4"/>
            <a:stretch>
              <a:fillRect t="-50871" b="-50871"/>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74" y="-58364"/>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sp>
        <p:nvSpPr>
          <p:cNvPr id="3" name="Freeform 3"/>
          <p:cNvSpPr/>
          <p:nvPr/>
        </p:nvSpPr>
        <p:spPr>
          <a:xfrm>
            <a:off x="12429739" y="4709757"/>
            <a:ext cx="5323455" cy="4385074"/>
          </a:xfrm>
          <a:custGeom>
            <a:avLst/>
            <a:gdLst/>
            <a:ahLst/>
            <a:cxnLst/>
            <a:rect l="l" t="t" r="r" b="b"/>
            <a:pathLst>
              <a:path w="5323455" h="4385074">
                <a:moveTo>
                  <a:pt x="0" y="0"/>
                </a:moveTo>
                <a:lnTo>
                  <a:pt x="5323456" y="0"/>
                </a:lnTo>
                <a:lnTo>
                  <a:pt x="5323456" y="4385074"/>
                </a:lnTo>
                <a:lnTo>
                  <a:pt x="0" y="4385074"/>
                </a:lnTo>
                <a:lnTo>
                  <a:pt x="0" y="0"/>
                </a:lnTo>
                <a:close/>
              </a:path>
            </a:pathLst>
          </a:custGeom>
          <a:blipFill>
            <a:blip r:embed="rId3"/>
            <a:stretch>
              <a:fillRect l="-11779" r="-11779"/>
            </a:stretch>
          </a:blipFill>
        </p:spPr>
      </p:sp>
      <p:sp>
        <p:nvSpPr>
          <p:cNvPr id="4" name="Freeform 4"/>
          <p:cNvSpPr/>
          <p:nvPr/>
        </p:nvSpPr>
        <p:spPr>
          <a:xfrm>
            <a:off x="6582950" y="4081344"/>
            <a:ext cx="5672527" cy="5013486"/>
          </a:xfrm>
          <a:custGeom>
            <a:avLst/>
            <a:gdLst/>
            <a:ahLst/>
            <a:cxnLst/>
            <a:rect l="l" t="t" r="r" b="b"/>
            <a:pathLst>
              <a:path w="5672527" h="5013486">
                <a:moveTo>
                  <a:pt x="0" y="0"/>
                </a:moveTo>
                <a:lnTo>
                  <a:pt x="5672527" y="0"/>
                </a:lnTo>
                <a:lnTo>
                  <a:pt x="5672527" y="5013487"/>
                </a:lnTo>
                <a:lnTo>
                  <a:pt x="0" y="5013487"/>
                </a:lnTo>
                <a:lnTo>
                  <a:pt x="0" y="0"/>
                </a:lnTo>
                <a:close/>
              </a:path>
            </a:pathLst>
          </a:custGeom>
          <a:blipFill>
            <a:blip r:embed="rId4"/>
            <a:stretch>
              <a:fillRect l="-8921" r="-8921"/>
            </a:stretch>
          </a:blipFill>
        </p:spPr>
      </p:sp>
      <p:sp>
        <p:nvSpPr>
          <p:cNvPr id="5" name="Freeform 5"/>
          <p:cNvSpPr/>
          <p:nvPr/>
        </p:nvSpPr>
        <p:spPr>
          <a:xfrm>
            <a:off x="888733" y="2842198"/>
            <a:ext cx="5470185" cy="6252633"/>
          </a:xfrm>
          <a:custGeom>
            <a:avLst/>
            <a:gdLst/>
            <a:ahLst/>
            <a:cxnLst/>
            <a:rect l="l" t="t" r="r" b="b"/>
            <a:pathLst>
              <a:path w="5470185" h="6252633">
                <a:moveTo>
                  <a:pt x="0" y="0"/>
                </a:moveTo>
                <a:lnTo>
                  <a:pt x="5470186" y="0"/>
                </a:lnTo>
                <a:lnTo>
                  <a:pt x="5470186" y="6252633"/>
                </a:lnTo>
                <a:lnTo>
                  <a:pt x="0" y="6252633"/>
                </a:lnTo>
                <a:lnTo>
                  <a:pt x="0" y="0"/>
                </a:lnTo>
                <a:close/>
              </a:path>
            </a:pathLst>
          </a:custGeom>
          <a:blipFill>
            <a:blip r:embed="rId2"/>
            <a:stretch>
              <a:fillRect l="-35727" r="-35727"/>
            </a:stretch>
          </a:blipFill>
        </p:spPr>
      </p:sp>
      <p:sp>
        <p:nvSpPr>
          <p:cNvPr id="6" name="TextBox 6"/>
          <p:cNvSpPr txBox="1"/>
          <p:nvPr/>
        </p:nvSpPr>
        <p:spPr>
          <a:xfrm>
            <a:off x="6268236" y="447675"/>
            <a:ext cx="7262660" cy="1038225"/>
          </a:xfrm>
          <a:prstGeom prst="rect">
            <a:avLst/>
          </a:prstGeom>
        </p:spPr>
        <p:txBody>
          <a:bodyPr lIns="0" tIns="0" rIns="0" bIns="0" rtlCol="0" anchor="t">
            <a:spAutoFit/>
          </a:bodyPr>
          <a:lstStyle/>
          <a:p>
            <a:pPr algn="l">
              <a:lnSpc>
                <a:spcPts val="8400"/>
              </a:lnSpc>
            </a:pPr>
            <a:r>
              <a:rPr lang="en-US" sz="6000" spc="-120">
                <a:solidFill>
                  <a:srgbClr val="2A2F38"/>
                </a:solidFill>
                <a:latin typeface="Anton"/>
                <a:ea typeface="Anton"/>
                <a:cs typeface="Anton"/>
                <a:sym typeface="Anton"/>
              </a:rPr>
              <a:t>Our Products</a:t>
            </a:r>
          </a:p>
        </p:txBody>
      </p:sp>
      <p:sp>
        <p:nvSpPr>
          <p:cNvPr id="7" name="TextBox 7"/>
          <p:cNvSpPr txBox="1"/>
          <p:nvPr/>
        </p:nvSpPr>
        <p:spPr>
          <a:xfrm>
            <a:off x="888733" y="2086896"/>
            <a:ext cx="5470185" cy="629211"/>
          </a:xfrm>
          <a:prstGeom prst="rect">
            <a:avLst/>
          </a:prstGeom>
        </p:spPr>
        <p:txBody>
          <a:bodyPr lIns="0" tIns="0" rIns="0" bIns="0" rtlCol="0" anchor="t">
            <a:spAutoFit/>
          </a:bodyPr>
          <a:lstStyle/>
          <a:p>
            <a:pPr algn="ctr">
              <a:lnSpc>
                <a:spcPts val="5179"/>
              </a:lnSpc>
            </a:pPr>
            <a:r>
              <a:rPr lang="en-US" sz="3699" spc="-188" dirty="0">
                <a:solidFill>
                  <a:srgbClr val="212121"/>
                </a:solidFill>
                <a:latin typeface="Adobe Gothic Std B" panose="020B0800000000000000" pitchFamily="34" charset="-128"/>
                <a:ea typeface="Adobe Gothic Std B" panose="020B0800000000000000" pitchFamily="34" charset="-128"/>
                <a:cs typeface="Aharoni" pitchFamily="2" charset="-79"/>
                <a:sym typeface="Anton"/>
              </a:rPr>
              <a:t>Passenger Elevators </a:t>
            </a:r>
          </a:p>
        </p:txBody>
      </p:sp>
      <p:sp>
        <p:nvSpPr>
          <p:cNvPr id="8" name="TextBox 8"/>
          <p:cNvSpPr txBox="1"/>
          <p:nvPr/>
        </p:nvSpPr>
        <p:spPr>
          <a:xfrm>
            <a:off x="6582950" y="3328665"/>
            <a:ext cx="5672527" cy="629211"/>
          </a:xfrm>
          <a:prstGeom prst="rect">
            <a:avLst/>
          </a:prstGeom>
        </p:spPr>
        <p:txBody>
          <a:bodyPr lIns="0" tIns="0" rIns="0" bIns="0" rtlCol="0" anchor="t">
            <a:spAutoFit/>
          </a:bodyPr>
          <a:lstStyle/>
          <a:p>
            <a:pPr algn="ctr">
              <a:lnSpc>
                <a:spcPts val="5179"/>
              </a:lnSpc>
            </a:pPr>
            <a:r>
              <a:rPr lang="en-US" sz="3699" spc="-188" dirty="0">
                <a:solidFill>
                  <a:srgbClr val="212121"/>
                </a:solidFill>
                <a:latin typeface="Adobe Gothic Std B" panose="020B0800000000000000" pitchFamily="34" charset="-128"/>
                <a:ea typeface="Adobe Gothic Std B" panose="020B0800000000000000" pitchFamily="34" charset="-128"/>
                <a:cs typeface="Anton"/>
                <a:sym typeface="Anton"/>
              </a:rPr>
              <a:t>Rooftop Solar</a:t>
            </a:r>
          </a:p>
        </p:txBody>
      </p:sp>
      <p:sp>
        <p:nvSpPr>
          <p:cNvPr id="9" name="TextBox 9"/>
          <p:cNvSpPr txBox="1"/>
          <p:nvPr/>
        </p:nvSpPr>
        <p:spPr>
          <a:xfrm>
            <a:off x="12484077" y="3891911"/>
            <a:ext cx="5214781" cy="629211"/>
          </a:xfrm>
          <a:prstGeom prst="rect">
            <a:avLst/>
          </a:prstGeom>
        </p:spPr>
        <p:txBody>
          <a:bodyPr lIns="0" tIns="0" rIns="0" bIns="0" rtlCol="0" anchor="t">
            <a:spAutoFit/>
          </a:bodyPr>
          <a:lstStyle/>
          <a:p>
            <a:pPr algn="ctr">
              <a:lnSpc>
                <a:spcPts val="5179"/>
              </a:lnSpc>
            </a:pPr>
            <a:r>
              <a:rPr lang="en-US" sz="3699" spc="-188" dirty="0">
                <a:solidFill>
                  <a:srgbClr val="212121"/>
                </a:solidFill>
                <a:latin typeface="Adobe Gothic Std B" panose="020B0800000000000000" pitchFamily="34" charset="-128"/>
                <a:ea typeface="Adobe Gothic Std B" panose="020B0800000000000000" pitchFamily="34" charset="-128"/>
                <a:cs typeface="Anton"/>
                <a:sym typeface="Anton"/>
              </a:rPr>
              <a:t>Sub-Station</a:t>
            </a:r>
          </a:p>
        </p:txBody>
      </p:sp>
      <p:sp>
        <p:nvSpPr>
          <p:cNvPr id="10" name="Freeform 10"/>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5"/>
            <a:stretch>
              <a:fillRect t="-50871" b="-50871"/>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sp>
        <p:nvSpPr>
          <p:cNvPr id="11" name="TextBox 11"/>
          <p:cNvSpPr txBox="1"/>
          <p:nvPr/>
        </p:nvSpPr>
        <p:spPr>
          <a:xfrm>
            <a:off x="1131747" y="1240849"/>
            <a:ext cx="14610238" cy="1368424"/>
          </a:xfrm>
          <a:prstGeom prst="rect">
            <a:avLst/>
          </a:prstGeom>
        </p:spPr>
        <p:txBody>
          <a:bodyPr lIns="0" tIns="0" rIns="0" bIns="0" rtlCol="0" anchor="t">
            <a:spAutoFit/>
          </a:bodyPr>
          <a:lstStyle/>
          <a:p>
            <a:pPr algn="ctr">
              <a:lnSpc>
                <a:spcPts val="11200"/>
              </a:lnSpc>
            </a:pPr>
            <a:r>
              <a:rPr lang="en-US" sz="8000" spc="-160">
                <a:solidFill>
                  <a:srgbClr val="080708"/>
                </a:solidFill>
                <a:latin typeface="Anton"/>
                <a:ea typeface="Anton"/>
                <a:cs typeface="Anton"/>
                <a:sym typeface="Anton"/>
              </a:rPr>
              <a:t>Meet Our Team</a:t>
            </a:r>
          </a:p>
        </p:txBody>
      </p:sp>
      <p:sp>
        <p:nvSpPr>
          <p:cNvPr id="12" name="TextBox 12"/>
          <p:cNvSpPr txBox="1"/>
          <p:nvPr/>
        </p:nvSpPr>
        <p:spPr>
          <a:xfrm>
            <a:off x="1216048" y="3123624"/>
            <a:ext cx="3274587" cy="405765"/>
          </a:xfrm>
          <a:prstGeom prst="rect">
            <a:avLst/>
          </a:prstGeom>
        </p:spPr>
        <p:txBody>
          <a:bodyPr lIns="0" tIns="0" rIns="0" bIns="0" rtlCol="0" anchor="t">
            <a:spAutoFit/>
          </a:bodyPr>
          <a:lstStyle/>
          <a:p>
            <a:pPr algn="ctr">
              <a:lnSpc>
                <a:spcPts val="3359"/>
              </a:lnSpc>
            </a:pPr>
            <a:r>
              <a:rPr lang="en-US" sz="2400" b="1" spc="-122">
                <a:solidFill>
                  <a:srgbClr val="212121"/>
                </a:solidFill>
                <a:latin typeface="Open Sauce Bold"/>
                <a:ea typeface="Open Sauce Bold"/>
                <a:cs typeface="Open Sauce Bold"/>
                <a:sym typeface="Open Sauce Bold"/>
              </a:rPr>
              <a:t>MD.Mainul Haque Moin</a:t>
            </a:r>
          </a:p>
        </p:txBody>
      </p:sp>
      <p:sp>
        <p:nvSpPr>
          <p:cNvPr id="13" name="TextBox 13"/>
          <p:cNvSpPr txBox="1"/>
          <p:nvPr/>
        </p:nvSpPr>
        <p:spPr>
          <a:xfrm>
            <a:off x="1216048" y="3491289"/>
            <a:ext cx="2997596" cy="339725"/>
          </a:xfrm>
          <a:prstGeom prst="rect">
            <a:avLst/>
          </a:prstGeom>
        </p:spPr>
        <p:txBody>
          <a:bodyPr lIns="0" tIns="0" rIns="0" bIns="0" rtlCol="0" anchor="t">
            <a:spAutoFit/>
          </a:bodyPr>
          <a:lstStyle/>
          <a:p>
            <a:pPr algn="ctr">
              <a:lnSpc>
                <a:spcPts val="2799"/>
              </a:lnSpc>
            </a:pPr>
            <a:r>
              <a:rPr lang="en-US" sz="1999" spc="-101">
                <a:solidFill>
                  <a:srgbClr val="212121"/>
                </a:solidFill>
                <a:latin typeface="Open Sauce"/>
                <a:ea typeface="Open Sauce"/>
                <a:cs typeface="Open Sauce"/>
                <a:sym typeface="Open Sauce"/>
              </a:rPr>
              <a:t>Chairman</a:t>
            </a:r>
          </a:p>
        </p:txBody>
      </p:sp>
      <p:sp>
        <p:nvSpPr>
          <p:cNvPr id="14" name="TextBox 14"/>
          <p:cNvSpPr txBox="1"/>
          <p:nvPr/>
        </p:nvSpPr>
        <p:spPr>
          <a:xfrm>
            <a:off x="5131844" y="3123624"/>
            <a:ext cx="2997596" cy="405765"/>
          </a:xfrm>
          <a:prstGeom prst="rect">
            <a:avLst/>
          </a:prstGeom>
        </p:spPr>
        <p:txBody>
          <a:bodyPr lIns="0" tIns="0" rIns="0" bIns="0" rtlCol="0" anchor="t">
            <a:spAutoFit/>
          </a:bodyPr>
          <a:lstStyle/>
          <a:p>
            <a:pPr algn="ctr">
              <a:lnSpc>
                <a:spcPts val="3359"/>
              </a:lnSpc>
            </a:pPr>
            <a:r>
              <a:rPr lang="en-US" sz="2400" b="1" spc="-122">
                <a:solidFill>
                  <a:srgbClr val="212121"/>
                </a:solidFill>
                <a:latin typeface="Open Sauce Bold"/>
                <a:ea typeface="Open Sauce Bold"/>
                <a:cs typeface="Open Sauce Bold"/>
                <a:sym typeface="Open Sauce Bold"/>
              </a:rPr>
              <a:t>Md. Lokeman</a:t>
            </a:r>
          </a:p>
        </p:txBody>
      </p:sp>
      <p:sp>
        <p:nvSpPr>
          <p:cNvPr id="15" name="TextBox 15"/>
          <p:cNvSpPr txBox="1"/>
          <p:nvPr/>
        </p:nvSpPr>
        <p:spPr>
          <a:xfrm>
            <a:off x="5131844" y="3588686"/>
            <a:ext cx="2997596" cy="349250"/>
          </a:xfrm>
          <a:prstGeom prst="rect">
            <a:avLst/>
          </a:prstGeom>
        </p:spPr>
        <p:txBody>
          <a:bodyPr lIns="0" tIns="0" rIns="0" bIns="0" rtlCol="0" anchor="t">
            <a:spAutoFit/>
          </a:bodyPr>
          <a:lstStyle/>
          <a:p>
            <a:pPr algn="ctr">
              <a:lnSpc>
                <a:spcPts val="2800"/>
              </a:lnSpc>
            </a:pPr>
            <a:r>
              <a:rPr lang="en-US" sz="2000" spc="-102">
                <a:solidFill>
                  <a:srgbClr val="212121"/>
                </a:solidFill>
                <a:latin typeface="Open Sauce"/>
                <a:ea typeface="Open Sauce"/>
                <a:cs typeface="Open Sauce"/>
                <a:sym typeface="Open Sauce"/>
              </a:rPr>
              <a:t>Managing Director</a:t>
            </a:r>
          </a:p>
        </p:txBody>
      </p:sp>
      <p:sp>
        <p:nvSpPr>
          <p:cNvPr id="16" name="TextBox 16"/>
          <p:cNvSpPr txBox="1"/>
          <p:nvPr/>
        </p:nvSpPr>
        <p:spPr>
          <a:xfrm>
            <a:off x="8927224" y="3230546"/>
            <a:ext cx="2997596" cy="405765"/>
          </a:xfrm>
          <a:prstGeom prst="rect">
            <a:avLst/>
          </a:prstGeom>
        </p:spPr>
        <p:txBody>
          <a:bodyPr lIns="0" tIns="0" rIns="0" bIns="0" rtlCol="0" anchor="t">
            <a:spAutoFit/>
          </a:bodyPr>
          <a:lstStyle/>
          <a:p>
            <a:pPr algn="ctr">
              <a:lnSpc>
                <a:spcPts val="3359"/>
              </a:lnSpc>
            </a:pPr>
            <a:r>
              <a:rPr lang="en-US" sz="2400" b="1" spc="-122">
                <a:solidFill>
                  <a:srgbClr val="212121"/>
                </a:solidFill>
                <a:latin typeface="Open Sauce Bold"/>
                <a:ea typeface="Open Sauce Bold"/>
                <a:cs typeface="Open Sauce Bold"/>
                <a:sym typeface="Open Sauce Bold"/>
              </a:rPr>
              <a:t>Md. Morshed Alom</a:t>
            </a:r>
          </a:p>
        </p:txBody>
      </p:sp>
      <p:sp>
        <p:nvSpPr>
          <p:cNvPr id="17" name="TextBox 17"/>
          <p:cNvSpPr txBox="1"/>
          <p:nvPr/>
        </p:nvSpPr>
        <p:spPr>
          <a:xfrm>
            <a:off x="12782870" y="3230546"/>
            <a:ext cx="2997596" cy="405765"/>
          </a:xfrm>
          <a:prstGeom prst="rect">
            <a:avLst/>
          </a:prstGeom>
        </p:spPr>
        <p:txBody>
          <a:bodyPr lIns="0" tIns="0" rIns="0" bIns="0" rtlCol="0" anchor="t">
            <a:spAutoFit/>
          </a:bodyPr>
          <a:lstStyle/>
          <a:p>
            <a:pPr algn="ctr">
              <a:lnSpc>
                <a:spcPts val="3359"/>
              </a:lnSpc>
            </a:pPr>
            <a:r>
              <a:rPr lang="en-US" sz="2400" b="1" spc="-122">
                <a:solidFill>
                  <a:srgbClr val="212121"/>
                </a:solidFill>
                <a:latin typeface="Open Sauce Bold"/>
                <a:ea typeface="Open Sauce Bold"/>
                <a:cs typeface="Open Sauce Bold"/>
                <a:sym typeface="Open Sauce Bold"/>
              </a:rPr>
              <a:t>Mehedi Hasan Mohin</a:t>
            </a:r>
          </a:p>
        </p:txBody>
      </p:sp>
      <p:sp>
        <p:nvSpPr>
          <p:cNvPr id="18" name="TextBox 18"/>
          <p:cNvSpPr txBox="1"/>
          <p:nvPr/>
        </p:nvSpPr>
        <p:spPr>
          <a:xfrm>
            <a:off x="8927224" y="3666091"/>
            <a:ext cx="2997596" cy="349250"/>
          </a:xfrm>
          <a:prstGeom prst="rect">
            <a:avLst/>
          </a:prstGeom>
        </p:spPr>
        <p:txBody>
          <a:bodyPr lIns="0" tIns="0" rIns="0" bIns="0" rtlCol="0" anchor="t">
            <a:spAutoFit/>
          </a:bodyPr>
          <a:lstStyle/>
          <a:p>
            <a:pPr algn="ctr">
              <a:lnSpc>
                <a:spcPts val="2800"/>
              </a:lnSpc>
            </a:pPr>
            <a:r>
              <a:rPr lang="en-US" sz="2000" spc="-102">
                <a:solidFill>
                  <a:srgbClr val="212121"/>
                </a:solidFill>
                <a:latin typeface="Open Sauce"/>
                <a:ea typeface="Open Sauce"/>
                <a:cs typeface="Open Sauce"/>
                <a:sym typeface="Open Sauce"/>
              </a:rPr>
              <a:t>Director Marketing &amp; Sales</a:t>
            </a:r>
          </a:p>
        </p:txBody>
      </p:sp>
      <p:sp>
        <p:nvSpPr>
          <p:cNvPr id="19" name="TextBox 19"/>
          <p:cNvSpPr txBox="1"/>
          <p:nvPr/>
        </p:nvSpPr>
        <p:spPr>
          <a:xfrm>
            <a:off x="12782870" y="3675616"/>
            <a:ext cx="2997596" cy="323215"/>
          </a:xfrm>
          <a:prstGeom prst="rect">
            <a:avLst/>
          </a:prstGeom>
        </p:spPr>
        <p:txBody>
          <a:bodyPr lIns="0" tIns="0" rIns="0" bIns="0" rtlCol="0" anchor="t">
            <a:spAutoFit/>
          </a:bodyPr>
          <a:lstStyle/>
          <a:p>
            <a:pPr algn="ctr">
              <a:lnSpc>
                <a:spcPts val="2659"/>
              </a:lnSpc>
            </a:pPr>
            <a:r>
              <a:rPr lang="en-US" sz="1899" spc="-96">
                <a:solidFill>
                  <a:srgbClr val="212121"/>
                </a:solidFill>
                <a:latin typeface="Open Sauce"/>
                <a:ea typeface="Open Sauce"/>
                <a:cs typeface="Open Sauce"/>
                <a:sym typeface="Open Sauce"/>
              </a:rPr>
              <a:t>Director Marketing &amp; Admin</a:t>
            </a:r>
          </a:p>
        </p:txBody>
      </p:sp>
      <p:sp>
        <p:nvSpPr>
          <p:cNvPr id="20" name="Freeform 20"/>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3"/>
            <a:stretch>
              <a:fillRect t="-50871" b="-50871"/>
            </a:stretch>
          </a:blipFill>
        </p:spPr>
      </p:sp>
      <p:pic>
        <p:nvPicPr>
          <p:cNvPr id="22" name="Picture 21">
            <a:extLst>
              <a:ext uri="{FF2B5EF4-FFF2-40B4-BE49-F238E27FC236}">
                <a16:creationId xmlns:a16="http://schemas.microsoft.com/office/drawing/2014/main" id="{8739ED86-B230-C012-5654-F48CC7F4D0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27224" y="4327876"/>
            <a:ext cx="3120982" cy="4161309"/>
          </a:xfrm>
          <a:prstGeom prst="rect">
            <a:avLst/>
          </a:prstGeom>
        </p:spPr>
      </p:pic>
      <p:pic>
        <p:nvPicPr>
          <p:cNvPr id="24" name="Picture 23">
            <a:extLst>
              <a:ext uri="{FF2B5EF4-FFF2-40B4-BE49-F238E27FC236}">
                <a16:creationId xmlns:a16="http://schemas.microsoft.com/office/drawing/2014/main" id="{7F4FDB76-EB7A-217E-7E78-57B75E592500}"/>
              </a:ext>
            </a:extLst>
          </p:cNvPr>
          <p:cNvPicPr>
            <a:picLocks noChangeAspect="1"/>
          </p:cNvPicPr>
          <p:nvPr/>
        </p:nvPicPr>
        <p:blipFill>
          <a:blip r:embed="rId5"/>
          <a:stretch>
            <a:fillRect/>
          </a:stretch>
        </p:blipFill>
        <p:spPr>
          <a:xfrm>
            <a:off x="12268200" y="4354587"/>
            <a:ext cx="4134598" cy="4134598"/>
          </a:xfrm>
          <a:prstGeom prst="rect">
            <a:avLst/>
          </a:prstGeom>
        </p:spPr>
      </p:pic>
      <p:pic>
        <p:nvPicPr>
          <p:cNvPr id="26" name="Picture 25">
            <a:extLst>
              <a:ext uri="{FF2B5EF4-FFF2-40B4-BE49-F238E27FC236}">
                <a16:creationId xmlns:a16="http://schemas.microsoft.com/office/drawing/2014/main" id="{F62B6C0A-4B40-4AF7-7FFC-C1DE1E7CBFD2}"/>
              </a:ext>
            </a:extLst>
          </p:cNvPr>
          <p:cNvPicPr>
            <a:picLocks noChangeAspect="1"/>
          </p:cNvPicPr>
          <p:nvPr/>
        </p:nvPicPr>
        <p:blipFill>
          <a:blip r:embed="rId6"/>
          <a:stretch>
            <a:fillRect/>
          </a:stretch>
        </p:blipFill>
        <p:spPr>
          <a:xfrm>
            <a:off x="1065626" y="4327876"/>
            <a:ext cx="3444059" cy="4256222"/>
          </a:xfrm>
          <a:prstGeom prst="rect">
            <a:avLst/>
          </a:prstGeom>
        </p:spPr>
      </p:pic>
      <p:pic>
        <p:nvPicPr>
          <p:cNvPr id="28" name="Picture 27">
            <a:extLst>
              <a:ext uri="{FF2B5EF4-FFF2-40B4-BE49-F238E27FC236}">
                <a16:creationId xmlns:a16="http://schemas.microsoft.com/office/drawing/2014/main" id="{C74958B5-1E92-0307-8888-8E7AA8236980}"/>
              </a:ext>
            </a:extLst>
          </p:cNvPr>
          <p:cNvPicPr>
            <a:picLocks noChangeAspect="1"/>
          </p:cNvPicPr>
          <p:nvPr/>
        </p:nvPicPr>
        <p:blipFill>
          <a:blip r:embed="rId7"/>
          <a:stretch>
            <a:fillRect/>
          </a:stretch>
        </p:blipFill>
        <p:spPr>
          <a:xfrm>
            <a:off x="4800600" y="4327876"/>
            <a:ext cx="3444059" cy="4249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grpSp>
        <p:nvGrpSpPr>
          <p:cNvPr id="3" name="Group 3"/>
          <p:cNvGrpSpPr/>
          <p:nvPr/>
        </p:nvGrpSpPr>
        <p:grpSpPr>
          <a:xfrm>
            <a:off x="1028700" y="1613884"/>
            <a:ext cx="16230600" cy="3497110"/>
            <a:chOff x="0" y="0"/>
            <a:chExt cx="4274726" cy="921049"/>
          </a:xfrm>
        </p:grpSpPr>
        <p:sp>
          <p:nvSpPr>
            <p:cNvPr id="4" name="Freeform 4"/>
            <p:cNvSpPr/>
            <p:nvPr/>
          </p:nvSpPr>
          <p:spPr>
            <a:xfrm>
              <a:off x="0" y="0"/>
              <a:ext cx="4274726" cy="921049"/>
            </a:xfrm>
            <a:custGeom>
              <a:avLst/>
              <a:gdLst/>
              <a:ahLst/>
              <a:cxnLst/>
              <a:rect l="l" t="t" r="r" b="b"/>
              <a:pathLst>
                <a:path w="4274726" h="921049">
                  <a:moveTo>
                    <a:pt x="0" y="0"/>
                  </a:moveTo>
                  <a:lnTo>
                    <a:pt x="4274726" y="0"/>
                  </a:lnTo>
                  <a:lnTo>
                    <a:pt x="4274726" y="921049"/>
                  </a:lnTo>
                  <a:lnTo>
                    <a:pt x="0" y="921049"/>
                  </a:lnTo>
                  <a:close/>
                </a:path>
              </a:pathLst>
            </a:custGeom>
            <a:ln w="19050" cap="sq">
              <a:solidFill>
                <a:srgbClr val="080708"/>
              </a:solidFill>
              <a:prstDash val="solid"/>
              <a:miter/>
            </a:ln>
          </p:spPr>
        </p:sp>
        <p:sp>
          <p:nvSpPr>
            <p:cNvPr id="5" name="TextBox 5"/>
            <p:cNvSpPr txBox="1"/>
            <p:nvPr/>
          </p:nvSpPr>
          <p:spPr>
            <a:xfrm>
              <a:off x="0" y="47625"/>
              <a:ext cx="4274726" cy="873424"/>
            </a:xfrm>
            <a:prstGeom prst="rect">
              <a:avLst/>
            </a:prstGeom>
          </p:spPr>
          <p:txBody>
            <a:bodyPr lIns="50800" tIns="50800" rIns="50800" bIns="50800" rtlCol="0" anchor="ctr"/>
            <a:lstStyle/>
            <a:p>
              <a:pPr algn="ctr">
                <a:lnSpc>
                  <a:spcPts val="1134"/>
                </a:lnSpc>
              </a:pPr>
              <a:endParaRPr/>
            </a:p>
          </p:txBody>
        </p:sp>
      </p:grpSp>
      <p:grpSp>
        <p:nvGrpSpPr>
          <p:cNvPr id="6" name="Group 6"/>
          <p:cNvGrpSpPr/>
          <p:nvPr/>
        </p:nvGrpSpPr>
        <p:grpSpPr>
          <a:xfrm>
            <a:off x="1429767" y="1879701"/>
            <a:ext cx="3148183" cy="2965474"/>
            <a:chOff x="0" y="0"/>
            <a:chExt cx="688125" cy="648189"/>
          </a:xfrm>
        </p:grpSpPr>
        <p:sp>
          <p:nvSpPr>
            <p:cNvPr id="7" name="Freeform 7"/>
            <p:cNvSpPr/>
            <p:nvPr/>
          </p:nvSpPr>
          <p:spPr>
            <a:xfrm>
              <a:off x="0" y="0"/>
              <a:ext cx="688125" cy="648189"/>
            </a:xfrm>
            <a:custGeom>
              <a:avLst/>
              <a:gdLst/>
              <a:ahLst/>
              <a:cxnLst/>
              <a:rect l="l" t="t" r="r" b="b"/>
              <a:pathLst>
                <a:path w="688125" h="648189">
                  <a:moveTo>
                    <a:pt x="0" y="0"/>
                  </a:moveTo>
                  <a:lnTo>
                    <a:pt x="688125" y="0"/>
                  </a:lnTo>
                  <a:lnTo>
                    <a:pt x="688125" y="648189"/>
                  </a:lnTo>
                  <a:lnTo>
                    <a:pt x="0" y="648189"/>
                  </a:lnTo>
                  <a:close/>
                </a:path>
              </a:pathLst>
            </a:custGeom>
            <a:blipFill>
              <a:blip r:embed="rId3"/>
              <a:stretch>
                <a:fillRect l="-29827" r="-29827"/>
              </a:stretch>
            </a:blipFill>
          </p:spPr>
        </p:sp>
      </p:grpSp>
      <p:sp>
        <p:nvSpPr>
          <p:cNvPr id="8" name="TextBox 8"/>
          <p:cNvSpPr txBox="1"/>
          <p:nvPr/>
        </p:nvSpPr>
        <p:spPr>
          <a:xfrm>
            <a:off x="5177809" y="1755876"/>
            <a:ext cx="8226579" cy="1038225"/>
          </a:xfrm>
          <a:prstGeom prst="rect">
            <a:avLst/>
          </a:prstGeom>
        </p:spPr>
        <p:txBody>
          <a:bodyPr lIns="0" tIns="0" rIns="0" bIns="0" rtlCol="0" anchor="t">
            <a:spAutoFit/>
          </a:bodyPr>
          <a:lstStyle/>
          <a:p>
            <a:pPr algn="ctr">
              <a:lnSpc>
                <a:spcPts val="8400"/>
              </a:lnSpc>
            </a:pPr>
            <a:r>
              <a:rPr lang="en-US" sz="6000" spc="-120">
                <a:solidFill>
                  <a:srgbClr val="2A2F38"/>
                </a:solidFill>
                <a:latin typeface="Anton"/>
                <a:ea typeface="Anton"/>
                <a:cs typeface="Anton"/>
                <a:sym typeface="Anton"/>
              </a:rPr>
              <a:t>Our Service</a:t>
            </a:r>
          </a:p>
        </p:txBody>
      </p:sp>
      <p:grpSp>
        <p:nvGrpSpPr>
          <p:cNvPr id="9" name="Group 9"/>
          <p:cNvGrpSpPr/>
          <p:nvPr/>
        </p:nvGrpSpPr>
        <p:grpSpPr>
          <a:xfrm>
            <a:off x="1028700" y="5413384"/>
            <a:ext cx="16230600" cy="3844916"/>
            <a:chOff x="0" y="0"/>
            <a:chExt cx="4274726" cy="1012653"/>
          </a:xfrm>
        </p:grpSpPr>
        <p:sp>
          <p:nvSpPr>
            <p:cNvPr id="10" name="Freeform 10"/>
            <p:cNvSpPr/>
            <p:nvPr/>
          </p:nvSpPr>
          <p:spPr>
            <a:xfrm>
              <a:off x="0" y="0"/>
              <a:ext cx="4274726" cy="1012653"/>
            </a:xfrm>
            <a:custGeom>
              <a:avLst/>
              <a:gdLst/>
              <a:ahLst/>
              <a:cxnLst/>
              <a:rect l="l" t="t" r="r" b="b"/>
              <a:pathLst>
                <a:path w="4274726" h="1012653">
                  <a:moveTo>
                    <a:pt x="0" y="0"/>
                  </a:moveTo>
                  <a:lnTo>
                    <a:pt x="4274726" y="0"/>
                  </a:lnTo>
                  <a:lnTo>
                    <a:pt x="4274726" y="1012653"/>
                  </a:lnTo>
                  <a:lnTo>
                    <a:pt x="0" y="1012653"/>
                  </a:lnTo>
                  <a:close/>
                </a:path>
              </a:pathLst>
            </a:custGeom>
            <a:ln w="19050" cap="sq">
              <a:solidFill>
                <a:srgbClr val="080708"/>
              </a:solidFill>
              <a:prstDash val="solid"/>
              <a:miter/>
            </a:ln>
          </p:spPr>
        </p:sp>
        <p:sp>
          <p:nvSpPr>
            <p:cNvPr id="11" name="TextBox 11"/>
            <p:cNvSpPr txBox="1"/>
            <p:nvPr/>
          </p:nvSpPr>
          <p:spPr>
            <a:xfrm>
              <a:off x="0" y="47625"/>
              <a:ext cx="4274726" cy="965028"/>
            </a:xfrm>
            <a:prstGeom prst="rect">
              <a:avLst/>
            </a:prstGeom>
          </p:spPr>
          <p:txBody>
            <a:bodyPr lIns="50800" tIns="50800" rIns="50800" bIns="50800" rtlCol="0" anchor="ctr"/>
            <a:lstStyle/>
            <a:p>
              <a:pPr algn="ctr">
                <a:lnSpc>
                  <a:spcPts val="1134"/>
                </a:lnSpc>
              </a:pPr>
              <a:endParaRPr/>
            </a:p>
          </p:txBody>
        </p:sp>
      </p:grpSp>
      <p:grpSp>
        <p:nvGrpSpPr>
          <p:cNvPr id="12" name="Group 12"/>
          <p:cNvGrpSpPr/>
          <p:nvPr/>
        </p:nvGrpSpPr>
        <p:grpSpPr>
          <a:xfrm>
            <a:off x="1429783" y="5752832"/>
            <a:ext cx="4869751" cy="3166020"/>
            <a:chOff x="0" y="0"/>
            <a:chExt cx="1282568" cy="833849"/>
          </a:xfrm>
        </p:grpSpPr>
        <p:sp>
          <p:nvSpPr>
            <p:cNvPr id="13" name="Freeform 13"/>
            <p:cNvSpPr/>
            <p:nvPr/>
          </p:nvSpPr>
          <p:spPr>
            <a:xfrm>
              <a:off x="0" y="0"/>
              <a:ext cx="1282568" cy="833849"/>
            </a:xfrm>
            <a:custGeom>
              <a:avLst/>
              <a:gdLst/>
              <a:ahLst/>
              <a:cxnLst/>
              <a:rect l="l" t="t" r="r" b="b"/>
              <a:pathLst>
                <a:path w="1282568" h="833849">
                  <a:moveTo>
                    <a:pt x="0" y="0"/>
                  </a:moveTo>
                  <a:lnTo>
                    <a:pt x="1282568" y="0"/>
                  </a:lnTo>
                  <a:lnTo>
                    <a:pt x="1282568" y="833849"/>
                  </a:lnTo>
                  <a:lnTo>
                    <a:pt x="0" y="833849"/>
                  </a:lnTo>
                  <a:close/>
                </a:path>
              </a:pathLst>
            </a:custGeom>
            <a:solidFill>
              <a:srgbClr val="E5E6E7"/>
            </a:solidFill>
            <a:ln cap="sq">
              <a:noFill/>
              <a:prstDash val="solid"/>
              <a:miter/>
            </a:ln>
          </p:spPr>
        </p:sp>
        <p:sp>
          <p:nvSpPr>
            <p:cNvPr id="14" name="TextBox 14"/>
            <p:cNvSpPr txBox="1"/>
            <p:nvPr/>
          </p:nvSpPr>
          <p:spPr>
            <a:xfrm>
              <a:off x="0" y="47625"/>
              <a:ext cx="1282568" cy="786224"/>
            </a:xfrm>
            <a:prstGeom prst="rect">
              <a:avLst/>
            </a:prstGeom>
          </p:spPr>
          <p:txBody>
            <a:bodyPr lIns="50800" tIns="50800" rIns="50800" bIns="50800" rtlCol="0" anchor="ctr"/>
            <a:lstStyle/>
            <a:p>
              <a:pPr algn="ctr">
                <a:lnSpc>
                  <a:spcPts val="1134"/>
                </a:lnSpc>
              </a:pPr>
              <a:endParaRPr/>
            </a:p>
          </p:txBody>
        </p:sp>
      </p:grpSp>
      <p:grpSp>
        <p:nvGrpSpPr>
          <p:cNvPr id="15" name="Group 15"/>
          <p:cNvGrpSpPr/>
          <p:nvPr/>
        </p:nvGrpSpPr>
        <p:grpSpPr>
          <a:xfrm>
            <a:off x="6709140" y="5752832"/>
            <a:ext cx="4869751" cy="3166020"/>
            <a:chOff x="0" y="0"/>
            <a:chExt cx="1282568" cy="833849"/>
          </a:xfrm>
        </p:grpSpPr>
        <p:sp>
          <p:nvSpPr>
            <p:cNvPr id="16" name="Freeform 16"/>
            <p:cNvSpPr/>
            <p:nvPr/>
          </p:nvSpPr>
          <p:spPr>
            <a:xfrm>
              <a:off x="0" y="0"/>
              <a:ext cx="1282568" cy="833849"/>
            </a:xfrm>
            <a:custGeom>
              <a:avLst/>
              <a:gdLst/>
              <a:ahLst/>
              <a:cxnLst/>
              <a:rect l="l" t="t" r="r" b="b"/>
              <a:pathLst>
                <a:path w="1282568" h="833849">
                  <a:moveTo>
                    <a:pt x="0" y="0"/>
                  </a:moveTo>
                  <a:lnTo>
                    <a:pt x="1282568" y="0"/>
                  </a:lnTo>
                  <a:lnTo>
                    <a:pt x="1282568" y="833849"/>
                  </a:lnTo>
                  <a:lnTo>
                    <a:pt x="0" y="833849"/>
                  </a:lnTo>
                  <a:close/>
                </a:path>
              </a:pathLst>
            </a:custGeom>
            <a:solidFill>
              <a:srgbClr val="E5E6E7"/>
            </a:solidFill>
            <a:ln cap="sq">
              <a:noFill/>
              <a:prstDash val="solid"/>
              <a:miter/>
            </a:ln>
          </p:spPr>
        </p:sp>
        <p:sp>
          <p:nvSpPr>
            <p:cNvPr id="17" name="TextBox 17"/>
            <p:cNvSpPr txBox="1"/>
            <p:nvPr/>
          </p:nvSpPr>
          <p:spPr>
            <a:xfrm>
              <a:off x="0" y="47625"/>
              <a:ext cx="1282568" cy="786224"/>
            </a:xfrm>
            <a:prstGeom prst="rect">
              <a:avLst/>
            </a:prstGeom>
          </p:spPr>
          <p:txBody>
            <a:bodyPr lIns="50800" tIns="50800" rIns="50800" bIns="50800" rtlCol="0" anchor="ctr"/>
            <a:lstStyle/>
            <a:p>
              <a:pPr algn="ctr">
                <a:lnSpc>
                  <a:spcPts val="1134"/>
                </a:lnSpc>
              </a:pPr>
              <a:endParaRPr/>
            </a:p>
          </p:txBody>
        </p:sp>
      </p:grpSp>
      <p:grpSp>
        <p:nvGrpSpPr>
          <p:cNvPr id="18" name="Group 18"/>
          <p:cNvGrpSpPr/>
          <p:nvPr/>
        </p:nvGrpSpPr>
        <p:grpSpPr>
          <a:xfrm>
            <a:off x="11988466" y="5752832"/>
            <a:ext cx="4869751" cy="3166020"/>
            <a:chOff x="0" y="0"/>
            <a:chExt cx="1282568" cy="833849"/>
          </a:xfrm>
        </p:grpSpPr>
        <p:sp>
          <p:nvSpPr>
            <p:cNvPr id="19" name="Freeform 19"/>
            <p:cNvSpPr/>
            <p:nvPr/>
          </p:nvSpPr>
          <p:spPr>
            <a:xfrm>
              <a:off x="0" y="0"/>
              <a:ext cx="1282568" cy="833849"/>
            </a:xfrm>
            <a:custGeom>
              <a:avLst/>
              <a:gdLst/>
              <a:ahLst/>
              <a:cxnLst/>
              <a:rect l="l" t="t" r="r" b="b"/>
              <a:pathLst>
                <a:path w="1282568" h="833849">
                  <a:moveTo>
                    <a:pt x="0" y="0"/>
                  </a:moveTo>
                  <a:lnTo>
                    <a:pt x="1282568" y="0"/>
                  </a:lnTo>
                  <a:lnTo>
                    <a:pt x="1282568" y="833849"/>
                  </a:lnTo>
                  <a:lnTo>
                    <a:pt x="0" y="833849"/>
                  </a:lnTo>
                  <a:close/>
                </a:path>
              </a:pathLst>
            </a:custGeom>
            <a:solidFill>
              <a:srgbClr val="E5E6E7"/>
            </a:solidFill>
            <a:ln cap="sq">
              <a:noFill/>
              <a:prstDash val="solid"/>
              <a:miter/>
            </a:ln>
          </p:spPr>
        </p:sp>
        <p:sp>
          <p:nvSpPr>
            <p:cNvPr id="20" name="TextBox 20"/>
            <p:cNvSpPr txBox="1"/>
            <p:nvPr/>
          </p:nvSpPr>
          <p:spPr>
            <a:xfrm>
              <a:off x="0" y="47625"/>
              <a:ext cx="1282568" cy="786224"/>
            </a:xfrm>
            <a:prstGeom prst="rect">
              <a:avLst/>
            </a:prstGeom>
          </p:spPr>
          <p:txBody>
            <a:bodyPr lIns="50800" tIns="50800" rIns="50800" bIns="50800" rtlCol="0" anchor="ctr"/>
            <a:lstStyle/>
            <a:p>
              <a:pPr algn="ctr">
                <a:lnSpc>
                  <a:spcPts val="1134"/>
                </a:lnSpc>
              </a:pPr>
              <a:endParaRPr/>
            </a:p>
          </p:txBody>
        </p:sp>
      </p:grpSp>
      <p:sp>
        <p:nvSpPr>
          <p:cNvPr id="21" name="TextBox 21"/>
          <p:cNvSpPr txBox="1"/>
          <p:nvPr/>
        </p:nvSpPr>
        <p:spPr>
          <a:xfrm>
            <a:off x="4865056" y="2901418"/>
            <a:ext cx="8520776" cy="1654810"/>
          </a:xfrm>
          <a:prstGeom prst="rect">
            <a:avLst/>
          </a:prstGeom>
        </p:spPr>
        <p:txBody>
          <a:bodyPr lIns="0" tIns="0" rIns="0" bIns="0" rtlCol="0" anchor="t">
            <a:spAutoFit/>
          </a:bodyPr>
          <a:lstStyle/>
          <a:p>
            <a:pPr algn="ctr">
              <a:lnSpc>
                <a:spcPts val="2239"/>
              </a:lnSpc>
            </a:pPr>
            <a:r>
              <a:rPr lang="en-US" sz="1599" spc="-81">
                <a:solidFill>
                  <a:srgbClr val="212121"/>
                </a:solidFill>
                <a:latin typeface="Open Sauce"/>
                <a:ea typeface="Open Sauce"/>
                <a:cs typeface="Open Sauce"/>
                <a:sym typeface="Open Sauce"/>
              </a:rPr>
              <a:t>We are committed to delivering reliable and high-quality engineering solutions.” “Customer satisfaction and long-term partnership are our top priorities.”  “Our experienced technical team ensures efficient and professional service support.”  “We provide end-to-end solutions tailored to client requirements.”  “Quality, safety, and performance are the foundation of our services.”  “We believe in sustainable solutions and continuous technical innovation</a:t>
            </a:r>
          </a:p>
          <a:p>
            <a:pPr algn="ctr">
              <a:lnSpc>
                <a:spcPts val="2239"/>
              </a:lnSpc>
            </a:pPr>
            <a:endParaRPr lang="en-US" sz="1599" spc="-81">
              <a:solidFill>
                <a:srgbClr val="212121"/>
              </a:solidFill>
              <a:latin typeface="Open Sauce"/>
              <a:ea typeface="Open Sauce"/>
              <a:cs typeface="Open Sauce"/>
              <a:sym typeface="Open Sauce"/>
            </a:endParaRPr>
          </a:p>
        </p:txBody>
      </p:sp>
      <p:sp>
        <p:nvSpPr>
          <p:cNvPr id="22" name="TextBox 22"/>
          <p:cNvSpPr txBox="1"/>
          <p:nvPr/>
        </p:nvSpPr>
        <p:spPr>
          <a:xfrm>
            <a:off x="1578988" y="6838742"/>
            <a:ext cx="4510917" cy="1564005"/>
          </a:xfrm>
          <a:prstGeom prst="rect">
            <a:avLst/>
          </a:prstGeom>
        </p:spPr>
        <p:txBody>
          <a:bodyPr lIns="0" tIns="0" rIns="0" bIns="0" rtlCol="0" anchor="t">
            <a:spAutoFit/>
          </a:bodyPr>
          <a:lstStyle/>
          <a:p>
            <a:pPr algn="ctr">
              <a:lnSpc>
                <a:spcPts val="2520"/>
              </a:lnSpc>
            </a:pPr>
            <a:r>
              <a:rPr lang="en-US" sz="1800" spc="-91">
                <a:solidFill>
                  <a:srgbClr val="212121"/>
                </a:solidFill>
                <a:latin typeface="Open Sauce"/>
                <a:ea typeface="Open Sauce"/>
                <a:cs typeface="Open Sauce"/>
                <a:sym typeface="Open Sauce"/>
              </a:rPr>
              <a:t>“We provide complete elevator and lift solutions including sales, installation, maintenance, modernization, and technical support for residential, commercial, and industrial projects.”</a:t>
            </a:r>
          </a:p>
        </p:txBody>
      </p:sp>
      <p:sp>
        <p:nvSpPr>
          <p:cNvPr id="23" name="TextBox 23"/>
          <p:cNvSpPr txBox="1"/>
          <p:nvPr/>
        </p:nvSpPr>
        <p:spPr>
          <a:xfrm>
            <a:off x="2048824" y="5947202"/>
            <a:ext cx="3631771" cy="701675"/>
          </a:xfrm>
          <a:prstGeom prst="rect">
            <a:avLst/>
          </a:prstGeom>
        </p:spPr>
        <p:txBody>
          <a:bodyPr lIns="0" tIns="0" rIns="0" bIns="0" rtlCol="0" anchor="t">
            <a:spAutoFit/>
          </a:bodyPr>
          <a:lstStyle/>
          <a:p>
            <a:pPr algn="ctr">
              <a:lnSpc>
                <a:spcPts val="2800"/>
              </a:lnSpc>
            </a:pPr>
            <a:r>
              <a:rPr lang="en-US" sz="2000" b="1" spc="-102">
                <a:solidFill>
                  <a:srgbClr val="212121"/>
                </a:solidFill>
                <a:latin typeface="Open Sauce Bold"/>
                <a:ea typeface="Open Sauce Bold"/>
                <a:cs typeface="Open Sauce Bold"/>
                <a:sym typeface="Open Sauce Bold"/>
              </a:rPr>
              <a:t>Passenger Lift sell &amp; Maintenance </a:t>
            </a:r>
          </a:p>
        </p:txBody>
      </p:sp>
      <p:sp>
        <p:nvSpPr>
          <p:cNvPr id="24" name="AutoShape 24"/>
          <p:cNvSpPr/>
          <p:nvPr/>
        </p:nvSpPr>
        <p:spPr>
          <a:xfrm>
            <a:off x="2048824" y="6762542"/>
            <a:ext cx="3631771" cy="0"/>
          </a:xfrm>
          <a:prstGeom prst="line">
            <a:avLst/>
          </a:prstGeom>
          <a:ln w="19050" cap="flat">
            <a:solidFill>
              <a:srgbClr val="000000"/>
            </a:solidFill>
            <a:prstDash val="solid"/>
            <a:headEnd type="none" w="sm" len="sm"/>
            <a:tailEnd type="none" w="sm" len="sm"/>
          </a:ln>
        </p:spPr>
      </p:sp>
      <p:sp>
        <p:nvSpPr>
          <p:cNvPr id="25" name="TextBox 25"/>
          <p:cNvSpPr txBox="1"/>
          <p:nvPr/>
        </p:nvSpPr>
        <p:spPr>
          <a:xfrm>
            <a:off x="6893648" y="7016967"/>
            <a:ext cx="4463593" cy="1564005"/>
          </a:xfrm>
          <a:prstGeom prst="rect">
            <a:avLst/>
          </a:prstGeom>
        </p:spPr>
        <p:txBody>
          <a:bodyPr lIns="0" tIns="0" rIns="0" bIns="0" rtlCol="0" anchor="t">
            <a:spAutoFit/>
          </a:bodyPr>
          <a:lstStyle/>
          <a:p>
            <a:pPr algn="ctr">
              <a:lnSpc>
                <a:spcPts val="2520"/>
              </a:lnSpc>
            </a:pPr>
            <a:r>
              <a:rPr lang="en-US" sz="1800" spc="-91">
                <a:solidFill>
                  <a:srgbClr val="212121"/>
                </a:solidFill>
                <a:latin typeface="Open Sauce"/>
                <a:ea typeface="Open Sauce"/>
                <a:cs typeface="Open Sauce"/>
                <a:sym typeface="Open Sauce"/>
              </a:rPr>
              <a:t>“We provide complete solar energy solutions including design, supply, installation, commissioning, maintenance, and technical support for residential, commercial, and industrial sectors.”</a:t>
            </a:r>
          </a:p>
        </p:txBody>
      </p:sp>
      <p:sp>
        <p:nvSpPr>
          <p:cNvPr id="26" name="TextBox 26"/>
          <p:cNvSpPr txBox="1"/>
          <p:nvPr/>
        </p:nvSpPr>
        <p:spPr>
          <a:xfrm>
            <a:off x="7328151" y="5947202"/>
            <a:ext cx="3631771" cy="701675"/>
          </a:xfrm>
          <a:prstGeom prst="rect">
            <a:avLst/>
          </a:prstGeom>
        </p:spPr>
        <p:txBody>
          <a:bodyPr lIns="0" tIns="0" rIns="0" bIns="0" rtlCol="0" anchor="t">
            <a:spAutoFit/>
          </a:bodyPr>
          <a:lstStyle/>
          <a:p>
            <a:pPr algn="ctr">
              <a:lnSpc>
                <a:spcPts val="2800"/>
              </a:lnSpc>
            </a:pPr>
            <a:r>
              <a:rPr lang="en-US" sz="2000" b="1" spc="-102">
                <a:solidFill>
                  <a:srgbClr val="212121"/>
                </a:solidFill>
                <a:latin typeface="Open Sauce Bold"/>
                <a:ea typeface="Open Sauce Bold"/>
                <a:cs typeface="Open Sauce Bold"/>
                <a:sym typeface="Open Sauce Bold"/>
              </a:rPr>
              <a:t>Rooptop Solar sell &amp; Maintenance</a:t>
            </a:r>
          </a:p>
        </p:txBody>
      </p:sp>
      <p:sp>
        <p:nvSpPr>
          <p:cNvPr id="27" name="AutoShape 27"/>
          <p:cNvSpPr/>
          <p:nvPr/>
        </p:nvSpPr>
        <p:spPr>
          <a:xfrm>
            <a:off x="7328151" y="6781592"/>
            <a:ext cx="3631771" cy="0"/>
          </a:xfrm>
          <a:prstGeom prst="line">
            <a:avLst/>
          </a:prstGeom>
          <a:ln w="19050" cap="flat">
            <a:solidFill>
              <a:srgbClr val="000000"/>
            </a:solidFill>
            <a:prstDash val="solid"/>
            <a:headEnd type="none" w="sm" len="sm"/>
            <a:tailEnd type="none" w="sm" len="sm"/>
          </a:ln>
        </p:spPr>
      </p:sp>
      <p:sp>
        <p:nvSpPr>
          <p:cNvPr id="28" name="TextBox 28"/>
          <p:cNvSpPr txBox="1"/>
          <p:nvPr/>
        </p:nvSpPr>
        <p:spPr>
          <a:xfrm>
            <a:off x="12306296" y="7016967"/>
            <a:ext cx="4197797" cy="1564005"/>
          </a:xfrm>
          <a:prstGeom prst="rect">
            <a:avLst/>
          </a:prstGeom>
        </p:spPr>
        <p:txBody>
          <a:bodyPr lIns="0" tIns="0" rIns="0" bIns="0" rtlCol="0" anchor="t">
            <a:spAutoFit/>
          </a:bodyPr>
          <a:lstStyle/>
          <a:p>
            <a:pPr algn="ctr">
              <a:lnSpc>
                <a:spcPts val="2520"/>
              </a:lnSpc>
            </a:pPr>
            <a:r>
              <a:rPr lang="en-US" sz="1800" spc="-91">
                <a:solidFill>
                  <a:srgbClr val="212121"/>
                </a:solidFill>
                <a:latin typeface="Open Sauce"/>
                <a:ea typeface="Open Sauce"/>
                <a:cs typeface="Open Sauce"/>
                <a:sym typeface="Open Sauce"/>
              </a:rPr>
              <a:t>“We provide complete substation solutions including supply, installation, testing, commissioning, repair, and maintenance services for industrial, commercial, and utility sectors.”</a:t>
            </a:r>
          </a:p>
        </p:txBody>
      </p:sp>
      <p:sp>
        <p:nvSpPr>
          <p:cNvPr id="29" name="TextBox 29"/>
          <p:cNvSpPr txBox="1"/>
          <p:nvPr/>
        </p:nvSpPr>
        <p:spPr>
          <a:xfrm>
            <a:off x="12691779" y="6123414"/>
            <a:ext cx="3631771" cy="349250"/>
          </a:xfrm>
          <a:prstGeom prst="rect">
            <a:avLst/>
          </a:prstGeom>
        </p:spPr>
        <p:txBody>
          <a:bodyPr lIns="0" tIns="0" rIns="0" bIns="0" rtlCol="0" anchor="t">
            <a:spAutoFit/>
          </a:bodyPr>
          <a:lstStyle/>
          <a:p>
            <a:pPr algn="ctr">
              <a:lnSpc>
                <a:spcPts val="2800"/>
              </a:lnSpc>
            </a:pPr>
            <a:r>
              <a:rPr lang="en-US" sz="2000" b="1" spc="-102">
                <a:solidFill>
                  <a:srgbClr val="212121"/>
                </a:solidFill>
                <a:latin typeface="Open Sauce Bold"/>
                <a:ea typeface="Open Sauce Bold"/>
                <a:cs typeface="Open Sauce Bold"/>
                <a:sym typeface="Open Sauce Bold"/>
              </a:rPr>
              <a:t>Sub-Station sell &amp; Maintenance</a:t>
            </a:r>
          </a:p>
        </p:txBody>
      </p:sp>
      <p:sp>
        <p:nvSpPr>
          <p:cNvPr id="30" name="AutoShape 30"/>
          <p:cNvSpPr/>
          <p:nvPr/>
        </p:nvSpPr>
        <p:spPr>
          <a:xfrm>
            <a:off x="12607456" y="6791117"/>
            <a:ext cx="3631771" cy="0"/>
          </a:xfrm>
          <a:prstGeom prst="line">
            <a:avLst/>
          </a:prstGeom>
          <a:ln w="19050" cap="flat">
            <a:solidFill>
              <a:srgbClr val="000000"/>
            </a:solidFill>
            <a:prstDash val="solid"/>
            <a:headEnd type="none" w="sm" len="sm"/>
            <a:tailEnd type="none" w="sm" len="sm"/>
          </a:ln>
        </p:spPr>
      </p:sp>
      <p:grpSp>
        <p:nvGrpSpPr>
          <p:cNvPr id="31" name="Group 31"/>
          <p:cNvGrpSpPr/>
          <p:nvPr/>
        </p:nvGrpSpPr>
        <p:grpSpPr>
          <a:xfrm>
            <a:off x="13710034" y="1879701"/>
            <a:ext cx="3148183" cy="2965474"/>
            <a:chOff x="0" y="0"/>
            <a:chExt cx="688125" cy="648189"/>
          </a:xfrm>
        </p:grpSpPr>
        <p:sp>
          <p:nvSpPr>
            <p:cNvPr id="32" name="Freeform 32"/>
            <p:cNvSpPr/>
            <p:nvPr/>
          </p:nvSpPr>
          <p:spPr>
            <a:xfrm>
              <a:off x="0" y="0"/>
              <a:ext cx="688125" cy="648189"/>
            </a:xfrm>
            <a:custGeom>
              <a:avLst/>
              <a:gdLst/>
              <a:ahLst/>
              <a:cxnLst/>
              <a:rect l="l" t="t" r="r" b="b"/>
              <a:pathLst>
                <a:path w="688125" h="648189">
                  <a:moveTo>
                    <a:pt x="0" y="0"/>
                  </a:moveTo>
                  <a:lnTo>
                    <a:pt x="688125" y="0"/>
                  </a:lnTo>
                  <a:lnTo>
                    <a:pt x="688125" y="648189"/>
                  </a:lnTo>
                  <a:lnTo>
                    <a:pt x="0" y="648189"/>
                  </a:lnTo>
                  <a:close/>
                </a:path>
              </a:pathLst>
            </a:custGeom>
            <a:blipFill>
              <a:blip r:embed="rId4"/>
              <a:stretch>
                <a:fillRect l="-20691" r="-20691"/>
              </a:stretch>
            </a:blipFill>
          </p:spPr>
        </p:sp>
      </p:grpSp>
      <p:sp>
        <p:nvSpPr>
          <p:cNvPr id="33" name="Freeform 33"/>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5"/>
            <a:stretch>
              <a:fillRect t="-50871" b="-50871"/>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394007" cy="10287000"/>
          </a:xfrm>
          <a:custGeom>
            <a:avLst/>
            <a:gdLst/>
            <a:ahLst/>
            <a:cxnLst/>
            <a:rect l="l" t="t" r="r" b="b"/>
            <a:pathLst>
              <a:path w="18394007" h="10287000">
                <a:moveTo>
                  <a:pt x="0" y="0"/>
                </a:moveTo>
                <a:lnTo>
                  <a:pt x="18394007" y="0"/>
                </a:lnTo>
                <a:lnTo>
                  <a:pt x="18394007" y="10287000"/>
                </a:lnTo>
                <a:lnTo>
                  <a:pt x="0" y="10287000"/>
                </a:lnTo>
                <a:lnTo>
                  <a:pt x="0" y="0"/>
                </a:lnTo>
                <a:close/>
              </a:path>
            </a:pathLst>
          </a:custGeom>
          <a:blipFill>
            <a:blip r:embed="rId2">
              <a:alphaModFix amt="18000"/>
            </a:blip>
            <a:stretch>
              <a:fillRect t="-9602" b="-9602"/>
            </a:stretch>
          </a:blipFill>
        </p:spPr>
      </p:sp>
      <p:sp>
        <p:nvSpPr>
          <p:cNvPr id="3" name="AutoShape 3"/>
          <p:cNvSpPr/>
          <p:nvPr/>
        </p:nvSpPr>
        <p:spPr>
          <a:xfrm>
            <a:off x="4447319" y="9248775"/>
            <a:ext cx="5939468" cy="0"/>
          </a:xfrm>
          <a:prstGeom prst="line">
            <a:avLst/>
          </a:prstGeom>
          <a:ln w="19050" cap="flat">
            <a:solidFill>
              <a:srgbClr val="000000"/>
            </a:solidFill>
            <a:prstDash val="solid"/>
            <a:headEnd type="none" w="sm" len="sm"/>
            <a:tailEnd type="none" w="sm" len="sm"/>
          </a:ln>
        </p:spPr>
      </p:sp>
      <p:grpSp>
        <p:nvGrpSpPr>
          <p:cNvPr id="4" name="Group 4"/>
          <p:cNvGrpSpPr/>
          <p:nvPr/>
        </p:nvGrpSpPr>
        <p:grpSpPr>
          <a:xfrm>
            <a:off x="1182240" y="1930159"/>
            <a:ext cx="2997596" cy="5426699"/>
            <a:chOff x="0" y="0"/>
            <a:chExt cx="620720" cy="1123721"/>
          </a:xfrm>
        </p:grpSpPr>
        <p:sp>
          <p:nvSpPr>
            <p:cNvPr id="5" name="Freeform 5"/>
            <p:cNvSpPr/>
            <p:nvPr/>
          </p:nvSpPr>
          <p:spPr>
            <a:xfrm>
              <a:off x="0" y="0"/>
              <a:ext cx="620720" cy="1123721"/>
            </a:xfrm>
            <a:custGeom>
              <a:avLst/>
              <a:gdLst/>
              <a:ahLst/>
              <a:cxnLst/>
              <a:rect l="l" t="t" r="r" b="b"/>
              <a:pathLst>
                <a:path w="620720" h="1123721">
                  <a:moveTo>
                    <a:pt x="0" y="0"/>
                  </a:moveTo>
                  <a:lnTo>
                    <a:pt x="620720" y="0"/>
                  </a:lnTo>
                  <a:lnTo>
                    <a:pt x="620720" y="1123721"/>
                  </a:lnTo>
                  <a:lnTo>
                    <a:pt x="0" y="1123721"/>
                  </a:lnTo>
                  <a:close/>
                </a:path>
              </a:pathLst>
            </a:custGeom>
            <a:blipFill>
              <a:blip r:embed="rId3"/>
              <a:stretch>
                <a:fillRect l="-17888" r="-17888"/>
              </a:stretch>
            </a:blipFill>
          </p:spPr>
        </p:sp>
      </p:grpSp>
      <p:grpSp>
        <p:nvGrpSpPr>
          <p:cNvPr id="6" name="Group 6"/>
          <p:cNvGrpSpPr/>
          <p:nvPr/>
        </p:nvGrpSpPr>
        <p:grpSpPr>
          <a:xfrm>
            <a:off x="4447319" y="1930159"/>
            <a:ext cx="2997596" cy="5426699"/>
            <a:chOff x="0" y="0"/>
            <a:chExt cx="620720" cy="1123721"/>
          </a:xfrm>
        </p:grpSpPr>
        <p:sp>
          <p:nvSpPr>
            <p:cNvPr id="7" name="Freeform 7"/>
            <p:cNvSpPr/>
            <p:nvPr/>
          </p:nvSpPr>
          <p:spPr>
            <a:xfrm>
              <a:off x="0" y="0"/>
              <a:ext cx="620720" cy="1123721"/>
            </a:xfrm>
            <a:custGeom>
              <a:avLst/>
              <a:gdLst/>
              <a:ahLst/>
              <a:cxnLst/>
              <a:rect l="l" t="t" r="r" b="b"/>
              <a:pathLst>
                <a:path w="620720" h="1123721">
                  <a:moveTo>
                    <a:pt x="0" y="0"/>
                  </a:moveTo>
                  <a:lnTo>
                    <a:pt x="620720" y="0"/>
                  </a:lnTo>
                  <a:lnTo>
                    <a:pt x="620720" y="1123721"/>
                  </a:lnTo>
                  <a:lnTo>
                    <a:pt x="0" y="1123721"/>
                  </a:lnTo>
                  <a:close/>
                </a:path>
              </a:pathLst>
            </a:custGeom>
            <a:blipFill>
              <a:blip r:embed="rId4"/>
              <a:stretch>
                <a:fillRect l="-10307" r="-10307"/>
              </a:stretch>
            </a:blipFill>
          </p:spPr>
        </p:sp>
      </p:grpSp>
      <p:grpSp>
        <p:nvGrpSpPr>
          <p:cNvPr id="8" name="Group 8"/>
          <p:cNvGrpSpPr/>
          <p:nvPr/>
        </p:nvGrpSpPr>
        <p:grpSpPr>
          <a:xfrm>
            <a:off x="10975910" y="1930159"/>
            <a:ext cx="2997596" cy="5426699"/>
            <a:chOff x="0" y="0"/>
            <a:chExt cx="620720" cy="1123721"/>
          </a:xfrm>
        </p:grpSpPr>
        <p:sp>
          <p:nvSpPr>
            <p:cNvPr id="9" name="Freeform 9"/>
            <p:cNvSpPr/>
            <p:nvPr/>
          </p:nvSpPr>
          <p:spPr>
            <a:xfrm>
              <a:off x="0" y="0"/>
              <a:ext cx="620720" cy="1123721"/>
            </a:xfrm>
            <a:custGeom>
              <a:avLst/>
              <a:gdLst/>
              <a:ahLst/>
              <a:cxnLst/>
              <a:rect l="l" t="t" r="r" b="b"/>
              <a:pathLst>
                <a:path w="620720" h="1123721">
                  <a:moveTo>
                    <a:pt x="0" y="0"/>
                  </a:moveTo>
                  <a:lnTo>
                    <a:pt x="620720" y="0"/>
                  </a:lnTo>
                  <a:lnTo>
                    <a:pt x="620720" y="1123721"/>
                  </a:lnTo>
                  <a:lnTo>
                    <a:pt x="0" y="1123721"/>
                  </a:lnTo>
                  <a:close/>
                </a:path>
              </a:pathLst>
            </a:custGeom>
            <a:blipFill>
              <a:blip r:embed="rId5"/>
              <a:stretch>
                <a:fillRect l="-916" r="-916"/>
              </a:stretch>
            </a:blipFill>
          </p:spPr>
        </p:sp>
      </p:grpSp>
      <p:grpSp>
        <p:nvGrpSpPr>
          <p:cNvPr id="10" name="Group 10"/>
          <p:cNvGrpSpPr/>
          <p:nvPr/>
        </p:nvGrpSpPr>
        <p:grpSpPr>
          <a:xfrm>
            <a:off x="7711615" y="1930159"/>
            <a:ext cx="2997596" cy="5426699"/>
            <a:chOff x="0" y="0"/>
            <a:chExt cx="620720" cy="1123721"/>
          </a:xfrm>
        </p:grpSpPr>
        <p:sp>
          <p:nvSpPr>
            <p:cNvPr id="11" name="Freeform 11"/>
            <p:cNvSpPr/>
            <p:nvPr/>
          </p:nvSpPr>
          <p:spPr>
            <a:xfrm>
              <a:off x="0" y="0"/>
              <a:ext cx="620720" cy="1123721"/>
            </a:xfrm>
            <a:custGeom>
              <a:avLst/>
              <a:gdLst/>
              <a:ahLst/>
              <a:cxnLst/>
              <a:rect l="l" t="t" r="r" b="b"/>
              <a:pathLst>
                <a:path w="620720" h="1123721">
                  <a:moveTo>
                    <a:pt x="0" y="0"/>
                  </a:moveTo>
                  <a:lnTo>
                    <a:pt x="620720" y="0"/>
                  </a:lnTo>
                  <a:lnTo>
                    <a:pt x="620720" y="1123721"/>
                  </a:lnTo>
                  <a:lnTo>
                    <a:pt x="0" y="1123721"/>
                  </a:lnTo>
                  <a:close/>
                </a:path>
              </a:pathLst>
            </a:custGeom>
            <a:blipFill>
              <a:blip r:embed="rId6"/>
              <a:stretch>
                <a:fillRect l="-53251" r="-53251"/>
              </a:stretch>
            </a:blipFill>
          </p:spPr>
        </p:sp>
      </p:grpSp>
      <p:grpSp>
        <p:nvGrpSpPr>
          <p:cNvPr id="12" name="Group 12"/>
          <p:cNvGrpSpPr/>
          <p:nvPr/>
        </p:nvGrpSpPr>
        <p:grpSpPr>
          <a:xfrm>
            <a:off x="14261704" y="1930159"/>
            <a:ext cx="2997596" cy="5426699"/>
            <a:chOff x="0" y="0"/>
            <a:chExt cx="620720" cy="1123721"/>
          </a:xfrm>
        </p:grpSpPr>
        <p:sp>
          <p:nvSpPr>
            <p:cNvPr id="13" name="Freeform 13"/>
            <p:cNvSpPr/>
            <p:nvPr/>
          </p:nvSpPr>
          <p:spPr>
            <a:xfrm>
              <a:off x="0" y="0"/>
              <a:ext cx="620720" cy="1123721"/>
            </a:xfrm>
            <a:custGeom>
              <a:avLst/>
              <a:gdLst/>
              <a:ahLst/>
              <a:cxnLst/>
              <a:rect l="l" t="t" r="r" b="b"/>
              <a:pathLst>
                <a:path w="620720" h="1123721">
                  <a:moveTo>
                    <a:pt x="0" y="0"/>
                  </a:moveTo>
                  <a:lnTo>
                    <a:pt x="620720" y="0"/>
                  </a:lnTo>
                  <a:lnTo>
                    <a:pt x="620720" y="1123721"/>
                  </a:lnTo>
                  <a:lnTo>
                    <a:pt x="0" y="1123721"/>
                  </a:lnTo>
                  <a:close/>
                </a:path>
              </a:pathLst>
            </a:custGeom>
            <a:blipFill>
              <a:blip r:embed="rId7"/>
              <a:stretch>
                <a:fillRect l="-70690" r="-70690"/>
              </a:stretch>
            </a:blipFill>
          </p:spPr>
        </p:sp>
      </p:grpSp>
      <p:sp>
        <p:nvSpPr>
          <p:cNvPr id="14" name="TextBox 14"/>
          <p:cNvSpPr txBox="1"/>
          <p:nvPr/>
        </p:nvSpPr>
        <p:spPr>
          <a:xfrm>
            <a:off x="5298435" y="451334"/>
            <a:ext cx="6701468" cy="1038225"/>
          </a:xfrm>
          <a:prstGeom prst="rect">
            <a:avLst/>
          </a:prstGeom>
        </p:spPr>
        <p:txBody>
          <a:bodyPr lIns="0" tIns="0" rIns="0" bIns="0" rtlCol="0" anchor="t">
            <a:spAutoFit/>
          </a:bodyPr>
          <a:lstStyle/>
          <a:p>
            <a:pPr algn="ctr">
              <a:lnSpc>
                <a:spcPts val="8400"/>
              </a:lnSpc>
            </a:pPr>
            <a:r>
              <a:rPr lang="en-US" sz="6000" spc="-120">
                <a:solidFill>
                  <a:srgbClr val="2A2F38"/>
                </a:solidFill>
                <a:latin typeface="Anton"/>
                <a:ea typeface="Anton"/>
                <a:cs typeface="Anton"/>
                <a:sym typeface="Anton"/>
              </a:rPr>
              <a:t>Our Project</a:t>
            </a:r>
          </a:p>
        </p:txBody>
      </p:sp>
      <p:sp>
        <p:nvSpPr>
          <p:cNvPr id="15" name="TextBox 15"/>
          <p:cNvSpPr txBox="1"/>
          <p:nvPr/>
        </p:nvSpPr>
        <p:spPr>
          <a:xfrm>
            <a:off x="1182240" y="7558232"/>
            <a:ext cx="2997596"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Dream Korobi</a:t>
            </a:r>
          </a:p>
        </p:txBody>
      </p:sp>
      <p:sp>
        <p:nvSpPr>
          <p:cNvPr id="16" name="TextBox 16"/>
          <p:cNvSpPr txBox="1"/>
          <p:nvPr/>
        </p:nvSpPr>
        <p:spPr>
          <a:xfrm>
            <a:off x="4447319" y="7558232"/>
            <a:ext cx="2997596"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Shpno Bilash</a:t>
            </a:r>
          </a:p>
        </p:txBody>
      </p:sp>
      <p:sp>
        <p:nvSpPr>
          <p:cNvPr id="17" name="TextBox 17"/>
          <p:cNvSpPr txBox="1"/>
          <p:nvPr/>
        </p:nvSpPr>
        <p:spPr>
          <a:xfrm>
            <a:off x="7711615" y="7558232"/>
            <a:ext cx="2997596"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Kholifa Tower</a:t>
            </a:r>
          </a:p>
        </p:txBody>
      </p:sp>
      <p:sp>
        <p:nvSpPr>
          <p:cNvPr id="18" name="TextBox 18"/>
          <p:cNvSpPr txBox="1"/>
          <p:nvPr/>
        </p:nvSpPr>
        <p:spPr>
          <a:xfrm>
            <a:off x="10975910" y="7558232"/>
            <a:ext cx="2997596"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xx</a:t>
            </a:r>
          </a:p>
        </p:txBody>
      </p:sp>
      <p:sp>
        <p:nvSpPr>
          <p:cNvPr id="19" name="TextBox 19"/>
          <p:cNvSpPr txBox="1"/>
          <p:nvPr/>
        </p:nvSpPr>
        <p:spPr>
          <a:xfrm>
            <a:off x="14240206" y="7558232"/>
            <a:ext cx="2997596"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xx</a:t>
            </a:r>
          </a:p>
        </p:txBody>
      </p:sp>
      <p:sp>
        <p:nvSpPr>
          <p:cNvPr id="20" name="Freeform 20"/>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8"/>
            <a:stretch>
              <a:fillRect t="-50871" b="-50871"/>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3004" y="-272114"/>
            <a:ext cx="18394007" cy="10287000"/>
          </a:xfrm>
          <a:custGeom>
            <a:avLst/>
            <a:gdLst/>
            <a:ahLst/>
            <a:cxnLst/>
            <a:rect l="l" t="t" r="r" b="b"/>
            <a:pathLst>
              <a:path w="18394007" h="10287000">
                <a:moveTo>
                  <a:pt x="0" y="0"/>
                </a:moveTo>
                <a:lnTo>
                  <a:pt x="18394008" y="0"/>
                </a:lnTo>
                <a:lnTo>
                  <a:pt x="18394008" y="10287000"/>
                </a:lnTo>
                <a:lnTo>
                  <a:pt x="0" y="10287000"/>
                </a:lnTo>
                <a:lnTo>
                  <a:pt x="0" y="0"/>
                </a:lnTo>
                <a:close/>
              </a:path>
            </a:pathLst>
          </a:custGeom>
          <a:blipFill>
            <a:blip r:embed="rId2">
              <a:alphaModFix amt="18000"/>
            </a:blip>
            <a:stretch>
              <a:fillRect t="-9602" b="-9602"/>
            </a:stretch>
          </a:blipFill>
        </p:spPr>
      </p:sp>
      <p:sp>
        <p:nvSpPr>
          <p:cNvPr id="3" name="AutoShape 3"/>
          <p:cNvSpPr/>
          <p:nvPr/>
        </p:nvSpPr>
        <p:spPr>
          <a:xfrm>
            <a:off x="4447319" y="9248775"/>
            <a:ext cx="5939468" cy="0"/>
          </a:xfrm>
          <a:prstGeom prst="line">
            <a:avLst/>
          </a:prstGeom>
          <a:ln w="19050" cap="flat">
            <a:solidFill>
              <a:srgbClr val="000000"/>
            </a:solidFill>
            <a:prstDash val="solid"/>
            <a:headEnd type="none" w="sm" len="sm"/>
            <a:tailEnd type="none" w="sm" len="sm"/>
          </a:ln>
        </p:spPr>
      </p:sp>
      <p:sp>
        <p:nvSpPr>
          <p:cNvPr id="4" name="Freeform 4"/>
          <p:cNvSpPr/>
          <p:nvPr/>
        </p:nvSpPr>
        <p:spPr>
          <a:xfrm>
            <a:off x="1809440" y="5230920"/>
            <a:ext cx="2915761" cy="523605"/>
          </a:xfrm>
          <a:custGeom>
            <a:avLst/>
            <a:gdLst/>
            <a:ahLst/>
            <a:cxnLst/>
            <a:rect l="l" t="t" r="r" b="b"/>
            <a:pathLst>
              <a:path w="2915761" h="523605">
                <a:moveTo>
                  <a:pt x="0" y="0"/>
                </a:moveTo>
                <a:lnTo>
                  <a:pt x="2915761" y="0"/>
                </a:lnTo>
                <a:lnTo>
                  <a:pt x="2915761" y="523605"/>
                </a:lnTo>
                <a:lnTo>
                  <a:pt x="0" y="523605"/>
                </a:lnTo>
                <a:lnTo>
                  <a:pt x="0" y="0"/>
                </a:lnTo>
                <a:close/>
              </a:path>
            </a:pathLst>
          </a:custGeom>
          <a:blipFill>
            <a:blip r:embed="rId3"/>
            <a:stretch>
              <a:fillRect/>
            </a:stretch>
          </a:blipFill>
        </p:spPr>
      </p:sp>
      <p:sp>
        <p:nvSpPr>
          <p:cNvPr id="5" name="Freeform 5"/>
          <p:cNvSpPr/>
          <p:nvPr/>
        </p:nvSpPr>
        <p:spPr>
          <a:xfrm>
            <a:off x="5047826" y="1959700"/>
            <a:ext cx="2269294" cy="1499355"/>
          </a:xfrm>
          <a:custGeom>
            <a:avLst/>
            <a:gdLst/>
            <a:ahLst/>
            <a:cxnLst/>
            <a:rect l="l" t="t" r="r" b="b"/>
            <a:pathLst>
              <a:path w="2269294" h="1499355">
                <a:moveTo>
                  <a:pt x="0" y="0"/>
                </a:moveTo>
                <a:lnTo>
                  <a:pt x="2269294" y="0"/>
                </a:lnTo>
                <a:lnTo>
                  <a:pt x="2269294" y="1499355"/>
                </a:lnTo>
                <a:lnTo>
                  <a:pt x="0" y="1499355"/>
                </a:lnTo>
                <a:lnTo>
                  <a:pt x="0" y="0"/>
                </a:lnTo>
                <a:close/>
              </a:path>
            </a:pathLst>
          </a:custGeom>
          <a:blipFill>
            <a:blip r:embed="rId4"/>
            <a:stretch>
              <a:fillRect/>
            </a:stretch>
          </a:blipFill>
        </p:spPr>
      </p:sp>
      <p:sp>
        <p:nvSpPr>
          <p:cNvPr id="6" name="Freeform 6"/>
          <p:cNvSpPr/>
          <p:nvPr/>
        </p:nvSpPr>
        <p:spPr>
          <a:xfrm>
            <a:off x="8348287" y="1959700"/>
            <a:ext cx="1593065" cy="1499355"/>
          </a:xfrm>
          <a:custGeom>
            <a:avLst/>
            <a:gdLst/>
            <a:ahLst/>
            <a:cxnLst/>
            <a:rect l="l" t="t" r="r" b="b"/>
            <a:pathLst>
              <a:path w="1593065" h="1499355">
                <a:moveTo>
                  <a:pt x="0" y="0"/>
                </a:moveTo>
                <a:lnTo>
                  <a:pt x="1593065" y="0"/>
                </a:lnTo>
                <a:lnTo>
                  <a:pt x="1593065" y="1499355"/>
                </a:lnTo>
                <a:lnTo>
                  <a:pt x="0" y="1499355"/>
                </a:lnTo>
                <a:lnTo>
                  <a:pt x="0" y="0"/>
                </a:lnTo>
                <a:close/>
              </a:path>
            </a:pathLst>
          </a:custGeom>
          <a:blipFill>
            <a:blip r:embed="rId5"/>
            <a:stretch>
              <a:fillRect/>
            </a:stretch>
          </a:blipFill>
        </p:spPr>
      </p:sp>
      <p:sp>
        <p:nvSpPr>
          <p:cNvPr id="7" name="Freeform 7"/>
          <p:cNvSpPr/>
          <p:nvPr/>
        </p:nvSpPr>
        <p:spPr>
          <a:xfrm>
            <a:off x="10607242" y="1959700"/>
            <a:ext cx="1657244" cy="1559759"/>
          </a:xfrm>
          <a:custGeom>
            <a:avLst/>
            <a:gdLst/>
            <a:ahLst/>
            <a:cxnLst/>
            <a:rect l="l" t="t" r="r" b="b"/>
            <a:pathLst>
              <a:path w="1657244" h="1559759">
                <a:moveTo>
                  <a:pt x="0" y="0"/>
                </a:moveTo>
                <a:lnTo>
                  <a:pt x="1657243" y="0"/>
                </a:lnTo>
                <a:lnTo>
                  <a:pt x="1657243" y="1559759"/>
                </a:lnTo>
                <a:lnTo>
                  <a:pt x="0" y="1559759"/>
                </a:lnTo>
                <a:lnTo>
                  <a:pt x="0" y="0"/>
                </a:lnTo>
                <a:close/>
              </a:path>
            </a:pathLst>
          </a:custGeom>
          <a:blipFill>
            <a:blip r:embed="rId6"/>
            <a:stretch>
              <a:fillRect/>
            </a:stretch>
          </a:blipFill>
        </p:spPr>
      </p:sp>
      <p:sp>
        <p:nvSpPr>
          <p:cNvPr id="8" name="Freeform 8"/>
          <p:cNvSpPr/>
          <p:nvPr/>
        </p:nvSpPr>
        <p:spPr>
          <a:xfrm>
            <a:off x="1809440" y="1947779"/>
            <a:ext cx="2792917" cy="1571680"/>
          </a:xfrm>
          <a:custGeom>
            <a:avLst/>
            <a:gdLst/>
            <a:ahLst/>
            <a:cxnLst/>
            <a:rect l="l" t="t" r="r" b="b"/>
            <a:pathLst>
              <a:path w="2792917" h="1571680">
                <a:moveTo>
                  <a:pt x="0" y="0"/>
                </a:moveTo>
                <a:lnTo>
                  <a:pt x="2792918" y="0"/>
                </a:lnTo>
                <a:lnTo>
                  <a:pt x="2792918" y="1571680"/>
                </a:lnTo>
                <a:lnTo>
                  <a:pt x="0" y="1571680"/>
                </a:lnTo>
                <a:lnTo>
                  <a:pt x="0" y="0"/>
                </a:lnTo>
                <a:close/>
              </a:path>
            </a:pathLst>
          </a:custGeom>
          <a:blipFill>
            <a:blip r:embed="rId7"/>
            <a:stretch>
              <a:fillRect/>
            </a:stretch>
          </a:blipFill>
        </p:spPr>
      </p:sp>
      <p:sp>
        <p:nvSpPr>
          <p:cNvPr id="9" name="Freeform 9"/>
          <p:cNvSpPr/>
          <p:nvPr/>
        </p:nvSpPr>
        <p:spPr>
          <a:xfrm>
            <a:off x="12931235" y="1959700"/>
            <a:ext cx="2599598" cy="1559759"/>
          </a:xfrm>
          <a:custGeom>
            <a:avLst/>
            <a:gdLst/>
            <a:ahLst/>
            <a:cxnLst/>
            <a:rect l="l" t="t" r="r" b="b"/>
            <a:pathLst>
              <a:path w="2599598" h="1559759">
                <a:moveTo>
                  <a:pt x="0" y="0"/>
                </a:moveTo>
                <a:lnTo>
                  <a:pt x="2599598" y="0"/>
                </a:lnTo>
                <a:lnTo>
                  <a:pt x="2599598" y="1559759"/>
                </a:lnTo>
                <a:lnTo>
                  <a:pt x="0" y="1559759"/>
                </a:lnTo>
                <a:lnTo>
                  <a:pt x="0" y="0"/>
                </a:lnTo>
                <a:close/>
              </a:path>
            </a:pathLst>
          </a:custGeom>
          <a:blipFill>
            <a:blip r:embed="rId8"/>
            <a:stretch>
              <a:fillRect/>
            </a:stretch>
          </a:blipFill>
        </p:spPr>
      </p:sp>
      <p:sp>
        <p:nvSpPr>
          <p:cNvPr id="10" name="Freeform 10"/>
          <p:cNvSpPr/>
          <p:nvPr/>
        </p:nvSpPr>
        <p:spPr>
          <a:xfrm>
            <a:off x="14231034" y="4859638"/>
            <a:ext cx="1266171" cy="1266171"/>
          </a:xfrm>
          <a:custGeom>
            <a:avLst/>
            <a:gdLst/>
            <a:ahLst/>
            <a:cxnLst/>
            <a:rect l="l" t="t" r="r" b="b"/>
            <a:pathLst>
              <a:path w="1266171" h="1266171">
                <a:moveTo>
                  <a:pt x="0" y="0"/>
                </a:moveTo>
                <a:lnTo>
                  <a:pt x="1266171" y="0"/>
                </a:lnTo>
                <a:lnTo>
                  <a:pt x="1266171" y="1266170"/>
                </a:lnTo>
                <a:lnTo>
                  <a:pt x="0" y="1266170"/>
                </a:lnTo>
                <a:lnTo>
                  <a:pt x="0" y="0"/>
                </a:lnTo>
                <a:close/>
              </a:path>
            </a:pathLst>
          </a:custGeom>
          <a:blipFill>
            <a:blip r:embed="rId9"/>
            <a:stretch>
              <a:fillRect/>
            </a:stretch>
          </a:blipFill>
        </p:spPr>
      </p:sp>
      <p:sp>
        <p:nvSpPr>
          <p:cNvPr id="11" name="TextBox 11"/>
          <p:cNvSpPr txBox="1"/>
          <p:nvPr/>
        </p:nvSpPr>
        <p:spPr>
          <a:xfrm>
            <a:off x="5298435" y="451334"/>
            <a:ext cx="6701468" cy="1038225"/>
          </a:xfrm>
          <a:prstGeom prst="rect">
            <a:avLst/>
          </a:prstGeom>
        </p:spPr>
        <p:txBody>
          <a:bodyPr lIns="0" tIns="0" rIns="0" bIns="0" rtlCol="0" anchor="t">
            <a:spAutoFit/>
          </a:bodyPr>
          <a:lstStyle/>
          <a:p>
            <a:pPr algn="ctr">
              <a:lnSpc>
                <a:spcPts val="8400"/>
              </a:lnSpc>
            </a:pPr>
            <a:r>
              <a:rPr lang="en-US" sz="6000" spc="-120">
                <a:solidFill>
                  <a:srgbClr val="2A2F38"/>
                </a:solidFill>
                <a:latin typeface="Anton"/>
                <a:ea typeface="Anton"/>
                <a:cs typeface="Anton"/>
                <a:sym typeface="Anton"/>
              </a:rPr>
              <a:t>Our Partner </a:t>
            </a:r>
          </a:p>
        </p:txBody>
      </p:sp>
      <p:sp>
        <p:nvSpPr>
          <p:cNvPr id="12" name="Freeform 12"/>
          <p:cNvSpPr/>
          <p:nvPr/>
        </p:nvSpPr>
        <p:spPr>
          <a:xfrm flipH="1">
            <a:off x="0" y="7954275"/>
            <a:ext cx="18290994" cy="2258384"/>
          </a:xfrm>
          <a:custGeom>
            <a:avLst/>
            <a:gdLst/>
            <a:ahLst/>
            <a:cxnLst/>
            <a:rect l="l" t="t" r="r" b="b"/>
            <a:pathLst>
              <a:path w="18290994" h="2258384">
                <a:moveTo>
                  <a:pt x="18290994" y="0"/>
                </a:moveTo>
                <a:lnTo>
                  <a:pt x="0" y="0"/>
                </a:lnTo>
                <a:lnTo>
                  <a:pt x="0" y="2258385"/>
                </a:lnTo>
                <a:lnTo>
                  <a:pt x="18290994" y="2258385"/>
                </a:lnTo>
                <a:lnTo>
                  <a:pt x="18290994" y="0"/>
                </a:lnTo>
                <a:close/>
              </a:path>
            </a:pathLst>
          </a:custGeom>
          <a:blipFill>
            <a:blip r:embed="rId10"/>
            <a:stretch>
              <a:fillRect t="-50871" b="-50871"/>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3206120" cy="10544792"/>
          </a:xfrm>
          <a:custGeom>
            <a:avLst/>
            <a:gdLst/>
            <a:ahLst/>
            <a:cxnLst/>
            <a:rect l="l" t="t" r="r" b="b"/>
            <a:pathLst>
              <a:path w="23206120" h="10544792">
                <a:moveTo>
                  <a:pt x="0" y="0"/>
                </a:moveTo>
                <a:lnTo>
                  <a:pt x="23206120" y="0"/>
                </a:lnTo>
                <a:lnTo>
                  <a:pt x="23206120" y="10544792"/>
                </a:lnTo>
                <a:lnTo>
                  <a:pt x="0" y="10544792"/>
                </a:lnTo>
                <a:lnTo>
                  <a:pt x="0" y="0"/>
                </a:lnTo>
                <a:close/>
              </a:path>
            </a:pathLst>
          </a:custGeom>
          <a:blipFill>
            <a:blip r:embed="rId2">
              <a:alphaModFix amt="18000"/>
            </a:blip>
            <a:stretch>
              <a:fillRect t="-22134" b="-24579"/>
            </a:stretch>
          </a:blipFill>
        </p:spPr>
      </p:sp>
      <p:sp>
        <p:nvSpPr>
          <p:cNvPr id="3" name="TextBox 3"/>
          <p:cNvSpPr txBox="1"/>
          <p:nvPr/>
        </p:nvSpPr>
        <p:spPr>
          <a:xfrm>
            <a:off x="1028700" y="3370678"/>
            <a:ext cx="8531615" cy="1708151"/>
          </a:xfrm>
          <a:prstGeom prst="rect">
            <a:avLst/>
          </a:prstGeom>
        </p:spPr>
        <p:txBody>
          <a:bodyPr lIns="0" tIns="0" rIns="0" bIns="0" rtlCol="0" anchor="t">
            <a:spAutoFit/>
          </a:bodyPr>
          <a:lstStyle/>
          <a:p>
            <a:pPr algn="l">
              <a:lnSpc>
                <a:spcPts val="13999"/>
              </a:lnSpc>
            </a:pPr>
            <a:r>
              <a:rPr lang="en-US" sz="9999" b="1" spc="-199">
                <a:solidFill>
                  <a:srgbClr val="080708"/>
                </a:solidFill>
                <a:latin typeface="Open Sauce Bold"/>
                <a:ea typeface="Open Sauce Bold"/>
                <a:cs typeface="Open Sauce Bold"/>
                <a:sym typeface="Open Sauce Bold"/>
              </a:rPr>
              <a:t>Thank You</a:t>
            </a:r>
          </a:p>
        </p:txBody>
      </p:sp>
      <p:grpSp>
        <p:nvGrpSpPr>
          <p:cNvPr id="4" name="Group 4"/>
          <p:cNvGrpSpPr/>
          <p:nvPr/>
        </p:nvGrpSpPr>
        <p:grpSpPr>
          <a:xfrm>
            <a:off x="11233013" y="3337527"/>
            <a:ext cx="6026287" cy="5920773"/>
            <a:chOff x="0" y="0"/>
            <a:chExt cx="1587170" cy="1559380"/>
          </a:xfrm>
        </p:grpSpPr>
        <p:sp>
          <p:nvSpPr>
            <p:cNvPr id="5" name="Freeform 5"/>
            <p:cNvSpPr/>
            <p:nvPr/>
          </p:nvSpPr>
          <p:spPr>
            <a:xfrm>
              <a:off x="0" y="0"/>
              <a:ext cx="1587170" cy="1559380"/>
            </a:xfrm>
            <a:custGeom>
              <a:avLst/>
              <a:gdLst/>
              <a:ahLst/>
              <a:cxnLst/>
              <a:rect l="l" t="t" r="r" b="b"/>
              <a:pathLst>
                <a:path w="1587170" h="1559380">
                  <a:moveTo>
                    <a:pt x="0" y="0"/>
                  </a:moveTo>
                  <a:lnTo>
                    <a:pt x="1587170" y="0"/>
                  </a:lnTo>
                  <a:lnTo>
                    <a:pt x="1587170" y="1559380"/>
                  </a:lnTo>
                  <a:lnTo>
                    <a:pt x="0" y="1559380"/>
                  </a:lnTo>
                  <a:close/>
                </a:path>
              </a:pathLst>
            </a:custGeom>
            <a:ln w="19050" cap="sq">
              <a:solidFill>
                <a:srgbClr val="080708"/>
              </a:solidFill>
              <a:prstDash val="solid"/>
              <a:miter/>
            </a:ln>
          </p:spPr>
        </p:sp>
        <p:sp>
          <p:nvSpPr>
            <p:cNvPr id="6" name="TextBox 6"/>
            <p:cNvSpPr txBox="1"/>
            <p:nvPr/>
          </p:nvSpPr>
          <p:spPr>
            <a:xfrm>
              <a:off x="0" y="47625"/>
              <a:ext cx="1587170" cy="1511755"/>
            </a:xfrm>
            <a:prstGeom prst="rect">
              <a:avLst/>
            </a:prstGeom>
          </p:spPr>
          <p:txBody>
            <a:bodyPr lIns="50800" tIns="50800" rIns="50800" bIns="50800" rtlCol="0" anchor="ctr"/>
            <a:lstStyle/>
            <a:p>
              <a:pPr algn="ctr">
                <a:lnSpc>
                  <a:spcPts val="1134"/>
                </a:lnSpc>
              </a:pPr>
              <a:endParaRPr/>
            </a:p>
          </p:txBody>
        </p:sp>
      </p:grpSp>
      <p:grpSp>
        <p:nvGrpSpPr>
          <p:cNvPr id="7" name="Group 7"/>
          <p:cNvGrpSpPr/>
          <p:nvPr/>
        </p:nvGrpSpPr>
        <p:grpSpPr>
          <a:xfrm>
            <a:off x="11612279" y="3798091"/>
            <a:ext cx="5267755" cy="4999645"/>
            <a:chOff x="0" y="0"/>
            <a:chExt cx="1199666" cy="1138608"/>
          </a:xfrm>
        </p:grpSpPr>
        <p:sp>
          <p:nvSpPr>
            <p:cNvPr id="8" name="Freeform 8"/>
            <p:cNvSpPr/>
            <p:nvPr/>
          </p:nvSpPr>
          <p:spPr>
            <a:xfrm>
              <a:off x="0" y="0"/>
              <a:ext cx="1199666" cy="1138608"/>
            </a:xfrm>
            <a:custGeom>
              <a:avLst/>
              <a:gdLst/>
              <a:ahLst/>
              <a:cxnLst/>
              <a:rect l="l" t="t" r="r" b="b"/>
              <a:pathLst>
                <a:path w="1199666" h="1138608">
                  <a:moveTo>
                    <a:pt x="0" y="0"/>
                  </a:moveTo>
                  <a:lnTo>
                    <a:pt x="1199666" y="0"/>
                  </a:lnTo>
                  <a:lnTo>
                    <a:pt x="1199666" y="1138608"/>
                  </a:lnTo>
                  <a:lnTo>
                    <a:pt x="0" y="1138608"/>
                  </a:lnTo>
                  <a:close/>
                </a:path>
              </a:pathLst>
            </a:custGeom>
            <a:blipFill>
              <a:blip r:embed="rId3">
                <a:alphaModFix amt="65000"/>
              </a:blip>
              <a:stretch>
                <a:fillRect l="-21227" r="-21227"/>
              </a:stretch>
            </a:blipFill>
          </p:spPr>
        </p:sp>
      </p:grpSp>
      <p:sp>
        <p:nvSpPr>
          <p:cNvPr id="9" name="AutoShape 9"/>
          <p:cNvSpPr/>
          <p:nvPr/>
        </p:nvSpPr>
        <p:spPr>
          <a:xfrm>
            <a:off x="1028700" y="5621753"/>
            <a:ext cx="8334670" cy="0"/>
          </a:xfrm>
          <a:prstGeom prst="line">
            <a:avLst/>
          </a:prstGeom>
          <a:ln w="19050" cap="flat">
            <a:solidFill>
              <a:srgbClr val="000000"/>
            </a:solidFill>
            <a:prstDash val="solid"/>
            <a:headEnd type="none" w="sm" len="sm"/>
            <a:tailEnd type="none" w="sm" len="sm"/>
          </a:ln>
        </p:spPr>
      </p:sp>
      <p:sp>
        <p:nvSpPr>
          <p:cNvPr id="10" name="AutoShape 10"/>
          <p:cNvSpPr/>
          <p:nvPr/>
        </p:nvSpPr>
        <p:spPr>
          <a:xfrm>
            <a:off x="1028700" y="9248775"/>
            <a:ext cx="8334670" cy="0"/>
          </a:xfrm>
          <a:prstGeom prst="line">
            <a:avLst/>
          </a:prstGeom>
          <a:ln w="19050" cap="flat">
            <a:solidFill>
              <a:srgbClr val="000000"/>
            </a:solidFill>
            <a:prstDash val="solid"/>
            <a:headEnd type="none" w="sm" len="sm"/>
            <a:tailEnd type="none" w="sm" len="sm"/>
          </a:ln>
        </p:spPr>
      </p:sp>
      <p:sp>
        <p:nvSpPr>
          <p:cNvPr id="11" name="Freeform 11"/>
          <p:cNvSpPr/>
          <p:nvPr/>
        </p:nvSpPr>
        <p:spPr>
          <a:xfrm rot="-5400000">
            <a:off x="8879315" y="7153291"/>
            <a:ext cx="438299" cy="529812"/>
          </a:xfrm>
          <a:custGeom>
            <a:avLst/>
            <a:gdLst/>
            <a:ahLst/>
            <a:cxnLst/>
            <a:rect l="l" t="t" r="r" b="b"/>
            <a:pathLst>
              <a:path w="438299" h="529812">
                <a:moveTo>
                  <a:pt x="0" y="0"/>
                </a:moveTo>
                <a:lnTo>
                  <a:pt x="438299" y="0"/>
                </a:lnTo>
                <a:lnTo>
                  <a:pt x="438299" y="529812"/>
                </a:lnTo>
                <a:lnTo>
                  <a:pt x="0" y="52981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flipH="1">
            <a:off x="-47033" y="8028616"/>
            <a:ext cx="18290994" cy="2258384"/>
          </a:xfrm>
          <a:custGeom>
            <a:avLst/>
            <a:gdLst/>
            <a:ahLst/>
            <a:cxnLst/>
            <a:rect l="l" t="t" r="r" b="b"/>
            <a:pathLst>
              <a:path w="18290994" h="2258384">
                <a:moveTo>
                  <a:pt x="18290994" y="0"/>
                </a:moveTo>
                <a:lnTo>
                  <a:pt x="0" y="0"/>
                </a:lnTo>
                <a:lnTo>
                  <a:pt x="0" y="2258384"/>
                </a:lnTo>
                <a:lnTo>
                  <a:pt x="18290994" y="2258384"/>
                </a:lnTo>
                <a:lnTo>
                  <a:pt x="18290994" y="0"/>
                </a:lnTo>
                <a:close/>
              </a:path>
            </a:pathLst>
          </a:custGeom>
          <a:blipFill>
            <a:blip r:embed="rId5"/>
            <a:stretch>
              <a:fillRect t="-50871" b="-50871"/>
            </a:stretch>
          </a:blipFill>
        </p:spPr>
      </p:sp>
      <p:grpSp>
        <p:nvGrpSpPr>
          <p:cNvPr id="13" name="Group 13"/>
          <p:cNvGrpSpPr/>
          <p:nvPr/>
        </p:nvGrpSpPr>
        <p:grpSpPr>
          <a:xfrm>
            <a:off x="1028700" y="1028700"/>
            <a:ext cx="2355171" cy="2355161"/>
            <a:chOff x="0" y="0"/>
            <a:chExt cx="6350000" cy="6349975"/>
          </a:xfrm>
        </p:grpSpPr>
        <p:sp>
          <p:nvSpPr>
            <p:cNvPr id="14" name="Freeform 1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5324" r="-5324"/>
              </a:stretch>
            </a:blipFill>
          </p:spPr>
        </p:sp>
      </p:grpSp>
      <p:sp>
        <p:nvSpPr>
          <p:cNvPr id="15" name="TextBox 15"/>
          <p:cNvSpPr txBox="1"/>
          <p:nvPr/>
        </p:nvSpPr>
        <p:spPr>
          <a:xfrm>
            <a:off x="1946837" y="6259814"/>
            <a:ext cx="7768538" cy="831850"/>
          </a:xfrm>
          <a:prstGeom prst="rect">
            <a:avLst/>
          </a:prstGeom>
        </p:spPr>
        <p:txBody>
          <a:bodyPr lIns="0" tIns="0" rIns="0" bIns="0" rtlCol="0" anchor="t">
            <a:spAutoFit/>
          </a:bodyPr>
          <a:lstStyle/>
          <a:p>
            <a:pPr algn="l">
              <a:lnSpc>
                <a:spcPts val="3349"/>
              </a:lnSpc>
            </a:pPr>
            <a:r>
              <a:rPr lang="en-US" sz="2499" spc="39">
                <a:solidFill>
                  <a:srgbClr val="2A2F38"/>
                </a:solidFill>
                <a:latin typeface="Inter"/>
                <a:ea typeface="Inter"/>
                <a:cs typeface="Inter"/>
                <a:sym typeface="Inter"/>
              </a:rPr>
              <a:t>+88 01819833911</a:t>
            </a:r>
          </a:p>
          <a:p>
            <a:pPr algn="l">
              <a:lnSpc>
                <a:spcPts val="3349"/>
              </a:lnSpc>
            </a:pPr>
            <a:r>
              <a:rPr lang="en-US" sz="2499" spc="39">
                <a:solidFill>
                  <a:srgbClr val="2A2F38"/>
                </a:solidFill>
                <a:latin typeface="Inter"/>
                <a:ea typeface="Inter"/>
                <a:cs typeface="Inter"/>
                <a:sym typeface="Inter"/>
              </a:rPr>
              <a:t>+88 01805032400</a:t>
            </a:r>
          </a:p>
        </p:txBody>
      </p:sp>
      <p:sp>
        <p:nvSpPr>
          <p:cNvPr id="16" name="TextBox 16"/>
          <p:cNvSpPr txBox="1"/>
          <p:nvPr/>
        </p:nvSpPr>
        <p:spPr>
          <a:xfrm>
            <a:off x="1946837" y="7234539"/>
            <a:ext cx="9037480" cy="831850"/>
          </a:xfrm>
          <a:prstGeom prst="rect">
            <a:avLst/>
          </a:prstGeom>
        </p:spPr>
        <p:txBody>
          <a:bodyPr lIns="0" tIns="0" rIns="0" bIns="0" rtlCol="0" anchor="t">
            <a:spAutoFit/>
          </a:bodyPr>
          <a:lstStyle/>
          <a:p>
            <a:pPr algn="l">
              <a:lnSpc>
                <a:spcPts val="3349"/>
              </a:lnSpc>
            </a:pPr>
            <a:r>
              <a:rPr lang="en-US" sz="2499" spc="39">
                <a:solidFill>
                  <a:srgbClr val="2A2F38"/>
                </a:solidFill>
                <a:latin typeface="Inter"/>
                <a:ea typeface="Inter"/>
                <a:cs typeface="Inter"/>
                <a:sym typeface="Inter"/>
              </a:rPr>
              <a:t>info@alainaenterprise.com</a:t>
            </a:r>
          </a:p>
          <a:p>
            <a:pPr algn="l">
              <a:lnSpc>
                <a:spcPts val="3349"/>
              </a:lnSpc>
            </a:pPr>
            <a:r>
              <a:rPr lang="en-US" sz="2499" spc="39">
                <a:solidFill>
                  <a:srgbClr val="2A2F38"/>
                </a:solidFill>
                <a:latin typeface="Inter"/>
                <a:ea typeface="Inter"/>
                <a:cs typeface="Inter"/>
                <a:sym typeface="Inter"/>
              </a:rPr>
              <a:t>www.alainaenterprise</a:t>
            </a:r>
          </a:p>
        </p:txBody>
      </p:sp>
      <p:sp>
        <p:nvSpPr>
          <p:cNvPr id="17" name="TextBox 17"/>
          <p:cNvSpPr txBox="1"/>
          <p:nvPr/>
        </p:nvSpPr>
        <p:spPr>
          <a:xfrm>
            <a:off x="1946837" y="8281344"/>
            <a:ext cx="9604813" cy="742950"/>
          </a:xfrm>
          <a:prstGeom prst="rect">
            <a:avLst/>
          </a:prstGeom>
        </p:spPr>
        <p:txBody>
          <a:bodyPr lIns="0" tIns="0" rIns="0" bIns="0" rtlCol="0" anchor="t">
            <a:spAutoFit/>
          </a:bodyPr>
          <a:lstStyle/>
          <a:p>
            <a:pPr algn="l">
              <a:lnSpc>
                <a:spcPts val="2999"/>
              </a:lnSpc>
            </a:pPr>
            <a:r>
              <a:rPr lang="en-US" sz="2499" spc="-22">
                <a:solidFill>
                  <a:srgbClr val="2A2F38"/>
                </a:solidFill>
                <a:latin typeface="Inter"/>
                <a:ea typeface="Inter"/>
                <a:cs typeface="Inter"/>
                <a:sym typeface="Inter"/>
              </a:rPr>
              <a:t>Flat-1/B, House-508 (2nd Floor)</a:t>
            </a:r>
          </a:p>
          <a:p>
            <a:pPr algn="l">
              <a:lnSpc>
                <a:spcPts val="2999"/>
              </a:lnSpc>
            </a:pPr>
            <a:r>
              <a:rPr lang="en-US" sz="2499" spc="-22">
                <a:solidFill>
                  <a:srgbClr val="2A2F38"/>
                </a:solidFill>
                <a:latin typeface="Inter"/>
                <a:ea typeface="Inter"/>
                <a:cs typeface="Inter"/>
                <a:sym typeface="Inter"/>
              </a:rPr>
              <a:t>Road-7, Ave-3, DOHS, Mirpur-12, Dhaka,Bangladesh.</a:t>
            </a:r>
          </a:p>
        </p:txBody>
      </p:sp>
      <p:sp>
        <p:nvSpPr>
          <p:cNvPr id="18" name="Freeform 18"/>
          <p:cNvSpPr/>
          <p:nvPr/>
        </p:nvSpPr>
        <p:spPr>
          <a:xfrm>
            <a:off x="1164878" y="6328465"/>
            <a:ext cx="533917" cy="732647"/>
          </a:xfrm>
          <a:custGeom>
            <a:avLst/>
            <a:gdLst/>
            <a:ahLst/>
            <a:cxnLst/>
            <a:rect l="l" t="t" r="r" b="b"/>
            <a:pathLst>
              <a:path w="533917" h="732647">
                <a:moveTo>
                  <a:pt x="0" y="0"/>
                </a:moveTo>
                <a:lnTo>
                  <a:pt x="533916" y="0"/>
                </a:lnTo>
                <a:lnTo>
                  <a:pt x="533916" y="732647"/>
                </a:lnTo>
                <a:lnTo>
                  <a:pt x="0" y="73264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Freeform 19"/>
          <p:cNvSpPr/>
          <p:nvPr/>
        </p:nvSpPr>
        <p:spPr>
          <a:xfrm>
            <a:off x="1028700" y="7316133"/>
            <a:ext cx="720341" cy="712483"/>
          </a:xfrm>
          <a:custGeom>
            <a:avLst/>
            <a:gdLst/>
            <a:ahLst/>
            <a:cxnLst/>
            <a:rect l="l" t="t" r="r" b="b"/>
            <a:pathLst>
              <a:path w="720341" h="712483">
                <a:moveTo>
                  <a:pt x="0" y="0"/>
                </a:moveTo>
                <a:lnTo>
                  <a:pt x="720341" y="0"/>
                </a:lnTo>
                <a:lnTo>
                  <a:pt x="720341" y="712483"/>
                </a:lnTo>
                <a:lnTo>
                  <a:pt x="0" y="71248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0" name="Freeform 20"/>
          <p:cNvSpPr/>
          <p:nvPr/>
        </p:nvSpPr>
        <p:spPr>
          <a:xfrm>
            <a:off x="1076189" y="8229016"/>
            <a:ext cx="622606" cy="847607"/>
          </a:xfrm>
          <a:custGeom>
            <a:avLst/>
            <a:gdLst/>
            <a:ahLst/>
            <a:cxnLst/>
            <a:rect l="l" t="t" r="r" b="b"/>
            <a:pathLst>
              <a:path w="622606" h="847607">
                <a:moveTo>
                  <a:pt x="0" y="0"/>
                </a:moveTo>
                <a:lnTo>
                  <a:pt x="622605" y="0"/>
                </a:lnTo>
                <a:lnTo>
                  <a:pt x="622605" y="847607"/>
                </a:lnTo>
                <a:lnTo>
                  <a:pt x="0" y="847607"/>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1" name="Freeform 21"/>
          <p:cNvSpPr/>
          <p:nvPr/>
        </p:nvSpPr>
        <p:spPr>
          <a:xfrm>
            <a:off x="15070998" y="6937843"/>
            <a:ext cx="2320457" cy="2320457"/>
          </a:xfrm>
          <a:custGeom>
            <a:avLst/>
            <a:gdLst/>
            <a:ahLst/>
            <a:cxnLst/>
            <a:rect l="l" t="t" r="r" b="b"/>
            <a:pathLst>
              <a:path w="2320457" h="2320457">
                <a:moveTo>
                  <a:pt x="0" y="0"/>
                </a:moveTo>
                <a:lnTo>
                  <a:pt x="2320457" y="0"/>
                </a:lnTo>
                <a:lnTo>
                  <a:pt x="2320457" y="2320457"/>
                </a:lnTo>
                <a:lnTo>
                  <a:pt x="0" y="2320457"/>
                </a:lnTo>
                <a:lnTo>
                  <a:pt x="0" y="0"/>
                </a:lnTo>
                <a:close/>
              </a:path>
            </a:pathLst>
          </a:custGeom>
          <a:blipFill>
            <a:blip r:embed="rId10"/>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586</Words>
  <Application>Microsoft Office PowerPoint</Application>
  <PresentationFormat>Custom</PresentationFormat>
  <Paragraphs>59</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Anton</vt:lpstr>
      <vt:lpstr>Inter</vt:lpstr>
      <vt:lpstr>Open Sauce</vt:lpstr>
      <vt:lpstr>Arial</vt:lpstr>
      <vt:lpstr>Calibri</vt:lpstr>
      <vt:lpstr>Open Sauce Bold</vt:lpstr>
      <vt:lpstr>Adobe Gothic Std B</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Alaina Enterprise Profile</dc:title>
  <cp:lastModifiedBy>md lokeman</cp:lastModifiedBy>
  <cp:revision>4</cp:revision>
  <dcterms:created xsi:type="dcterms:W3CDTF">2006-08-16T00:00:00Z</dcterms:created>
  <dcterms:modified xsi:type="dcterms:W3CDTF">2026-08-06T18:44:04Z</dcterms:modified>
  <dc:identifier>DAHJiMzcpts</dc:identifier>
</cp:coreProperties>
</file>